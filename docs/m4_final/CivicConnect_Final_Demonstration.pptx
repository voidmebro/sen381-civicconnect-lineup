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final CivicConnect project closure. Identify the exact application and evidence baseline. State that this is a local academic demonstration and that the production decision is no-go. Source: final repository baseline c8fcc9887d58bc07e7b592e292dbe05222d97190; docs/m4_final/Final_Release_Decision.md.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M1 PED sets the project scope. The final local application provides the core requester, staff and management journey. Advanced reporting, integrations, mobile app and automated notification enhancements were deferred. Source: docs/CivicConnect_Milestone1_v0.11.docx, Sections 4, 6 and 7; docs/member1_m2/product/README.md.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Demonstrate the integrated user journey live using synthetic accounts. Keep the sequence short: citizen submission, staff processing, citizen history, management report. Do not use real citizen data or imply that the local server is a production deployment. Source: docs/member1_m2/product/README.md; docs/member1_m2/evidence/simulated-staging.md.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the current integrated repository/evidence baseline from the earlier M3 CI run SHA. The current baseline includes the website-stage load report, whose tested source was M3 application code and whose evidence was merged through PR #19. The final documentation merge SHA remains pending until the M4 PR is reviewed and merged. Sources: GitHub commit c8fcc9887d58bc07e7b592e292dbe05222d97190; docs/member1_m2/evidence/team-release-verification.md; evidence/website-stage-20261016/staging_load_report.md.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calculation scores each M1 requirement-level acceptance-criteria entry once: Met = 1, Partially Met = 0.5, Not Met = 0. There are 20 entries. Four partial entries contribute 2.0, fourteen met entries contribute 14.0, and two not met contribute 0. This produces 16.0/20 = 80%. Several M1 cells contain multiple clauses. The final RTM preserves their full wording and flags that an atomic-clause recalculation may be needed if the assessor requires clause-level scoring. Source: docs/CivicConnect_Milestone1_v0.11.docx; docs/m4_final/Scope_Completion.csv; docs/m4_final/Final_RTM.csv.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final RTM to answer detailed questions. Functional criteria are treated as met based on the M3 team verification and recorded automated/manual evidence for exercised workflows; they do not imply defect-free behavior. NFR-01 and NFR-04 remain unmet. Sources: docs/m4_final/Final_RTM.csv; docs/member1_m2/evidence/test-strategy.md; docs/member1_m2/evidence/team-release-verification.md.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direct about this Must Have omission. There is no five-person user study in the repository evidence inspected. Explain that automated functional success does not prove unaided first-time usability. The team must disclose the impact and avoid claiming NFR-01 passed. Source: docs/CivicConnect_Milestone1_v0.11.docx, NFR-01; docs/m4_final/Final_RTM.csv.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10-minute local HTTP profile collected 6,000 samples. p95 was 1,051.639 ms, below 3,000 ms, but 647 requests failed, a 10.78333% failure rate against the required rate below 1%. The failed samples were connection resets during synchronized bursts. The report suggests a pending-connection queue explanation as a hypothesis only. This run used one Windows host and loopback HTTP. It does not demonstrate production capacity or availability. Source: evidence/website-stage-20261016/staging_load_report.md; evidence/website-stage-20261016/staging_load_report.json; evidence/website-stage-20261016/load_samples.csv.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production decision is no-go based on observed reliability failure and absent availability evidence. The previous M3 approval was for local academic demonstration and remains historical; it is not a production-readiness approval. A local demonstration can proceed if the boundary and load failure are disclosed. Source: docs/m4_final/Final_Release_Decision.md; registers/Risk_Register_M3.md M4 update.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follow-up actions address acceptance evidence and release readiness. No corrective software change or repeat run is claimed in this package. The cause of connection resets remains open. Source: docs/m4_final/Final_Release_Decision.md; registers/Technical_Debt_Register.md; docs/m4_final/Final_RTM.csv.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Discuss consequences based on observed project evidence. The local technology choices enabled implementation within student resource constraints. The single-process server configuration showed a limitation in the specific synchronized load run. Do not assert a confirmed root cause. The M1 deferred features are not failed commitments. Sources: docs/CivicConnect_Milestone1_v0.11.docx; docs/member1_m2/product/README.md; evidence/website-stage-20261016/staging_load_report.md.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a balanced conclusion: CivicConnect delivers the core local request workflow and has meaningful test evidence, but the project cannot claim all M1 acceptance criteria are met or production readiness. Each student should be ready to defend an individual contribution, an M1-to-final trace, an engineering decision, quality evidence and one remaining limitation. The M4 documentation PR merge SHA and actual team review decisions remain to be recorded after review. Sources: docs/m4_final/CivicConnect_PED_v4.0_Final.docx; docs/m4_final/Final_RTM.csv; docs/m4_final/Speaker_Guide.md.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7BACAC0-0578-4BDC-BC66-7F6AB0130FF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F4DB21D-3335-4E26-99F9-DC5A572E521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83552F6-F60C-4B6B-949D-20C8975BEE9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24FB93B-733E-4BB7-87ED-A6C4342320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80CC02F-E7AD-42B1-8896-C6AAF06E55E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13E6C99-AD9C-4358-A37D-9F25CDF6314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F01831E-A7BE-4364-B227-413FDA5DD4B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82D32F1F-F8C1-4E45-A8DB-24EA5CA72EB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9818BA3-6A53-424C-9FB7-8F33748D4C4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6704720-E334-46D8-A592-4765A228150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DDD4BA0-D8A4-46A0-A84E-287EB62D2EBC}"/>
              </a:ext>
            </a:extLst>
          </p:cNvPr>
          <p:cNvSpPr>
            <a:spLocks noGrp="1"/>
          </p:cNvSpPr>
          <p:nvPr/>
        </p:nvSpPr>
        <p:spPr>
          <a:xfrm>
            <a:off x="723900" y="838200"/>
            <a:ext cx="95250" cy="476250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5E6C2EDF-35CC-431C-A053-17A0F089C59D}"/>
              </a:ext>
            </a:extLst>
          </p:cNvPr>
          <p:cNvSpPr>
            <a:spLocks noGrp="1"/>
          </p:cNvSpPr>
          <p:nvPr/>
        </p:nvSpPr>
        <p:spPr>
          <a:xfrm>
            <a:off x="1181100" y="1162050"/>
            <a:ext cx="10001250" cy="704850"/>
          </a:xfrm>
          <a:prstGeom prst="rect">
            <a:avLst/>
          </a:prstGeom>
          <a:noFill/>
          <a:ln w="0">
            <a:noFill/>
            <a:prstDash val="solid"/>
          </a:ln>
        </p:spPr>
        <p:txBody>
          <a:bodyPr>
            <a:normAutofit/>
          </a:bodyPr>
          <a:lstStyle>
            <a:defPPr>
              <a:defRPr sz="3750" b="1">
                <a:solidFill>
                  <a:srgbClr val="FFFFFF"/>
                </a:solidFill>
                <a:latin typeface="Arial"/>
                <a:ea typeface="Arial"/>
                <a:cs typeface="Arial"/>
              </a:defRPr>
            </a:defPPr>
            <a:lvl1pPr>
              <a:defRPr sz="3750" b="1">
                <a:solidFill>
                  <a:srgbClr val="FFFFFF"/>
                </a:solidFill>
                <a:latin typeface="Arial"/>
                <a:ea typeface="Arial"/>
                <a:cs typeface="Arial"/>
              </a:defRPr>
            </a:lvl1pPr>
            <a:lvl2pPr>
              <a:defRPr sz="3750" b="1">
                <a:solidFill>
                  <a:srgbClr val="FFFFFF"/>
                </a:solidFill>
                <a:latin typeface="Arial"/>
                <a:ea typeface="Arial"/>
                <a:cs typeface="Arial"/>
              </a:defRPr>
            </a:lvl2pPr>
            <a:lvl3pPr>
              <a:defRPr sz="3750" b="1">
                <a:solidFill>
                  <a:srgbClr val="FFFFFF"/>
                </a:solidFill>
                <a:latin typeface="Arial"/>
                <a:ea typeface="Arial"/>
                <a:cs typeface="Arial"/>
              </a:defRPr>
            </a:lvl3pPr>
            <a:lvl4pPr>
              <a:defRPr sz="3750" b="1">
                <a:solidFill>
                  <a:srgbClr val="FFFFFF"/>
                </a:solidFill>
                <a:latin typeface="Arial"/>
                <a:ea typeface="Arial"/>
                <a:cs typeface="Arial"/>
              </a:defRPr>
            </a:lvl4pPr>
            <a:lvl5pPr>
              <a:defRPr sz="3750" b="1">
                <a:solidFill>
                  <a:srgbClr val="FFFFFF"/>
                </a:solidFill>
                <a:latin typeface="Arial"/>
                <a:ea typeface="Arial"/>
                <a:cs typeface="Arial"/>
              </a:defRPr>
            </a:lvl5pPr>
            <a:lvl6pPr>
              <a:defRPr sz="3750" b="1">
                <a:solidFill>
                  <a:srgbClr val="FFFFFF"/>
                </a:solidFill>
                <a:latin typeface="Arial"/>
                <a:ea typeface="Arial"/>
                <a:cs typeface="Arial"/>
              </a:defRPr>
            </a:lvl6pPr>
            <a:lvl7pPr>
              <a:defRPr sz="3750" b="1">
                <a:solidFill>
                  <a:srgbClr val="FFFFFF"/>
                </a:solidFill>
                <a:latin typeface="Arial"/>
                <a:ea typeface="Arial"/>
                <a:cs typeface="Arial"/>
              </a:defRPr>
            </a:lvl7pPr>
            <a:lvl8pPr>
              <a:defRPr sz="3750" b="1">
                <a:solidFill>
                  <a:srgbClr val="FFFFFF"/>
                </a:solidFill>
                <a:latin typeface="Arial"/>
                <a:ea typeface="Arial"/>
                <a:cs typeface="Arial"/>
              </a:defRPr>
            </a:lvl8pPr>
            <a:lvl9pPr>
              <a:defRPr sz="3750" b="1">
                <a:solidFill>
                  <a:srgbClr val="FFFFFF"/>
                </a:solidFill>
                <a:latin typeface="Arial"/>
                <a:ea typeface="Arial"/>
                <a:cs typeface="Arial"/>
              </a:defRPr>
            </a:lvl9pPr>
          </a:lstStyle>
          <a:p>
            <a:pPr>
              <a:defRPr sz="3750" b="1">
                <a:solidFill>
                  <a:srgbClr val="FFFFFF"/>
                </a:solidFill>
                <a:latin typeface="Arial"/>
                <a:ea typeface="Arial"/>
                <a:cs typeface="Arial"/>
              </a:defRPr>
            </a:pPr>
            <a:r>
              <a:rPr sz="3750" b="1">
                <a:solidFill>
                  <a:srgbClr val="FFFFFF"/>
                </a:solidFill>
                <a:latin typeface="Arial"/>
                <a:ea typeface="Arial"/>
                <a:cs typeface="Arial"/>
              </a:rPr>
              <a:t>CivicConnect</a:t>
            </a:r>
          </a:p>
        </p:txBody>
      </p:sp>
      <p:sp>
        <p:nvSpPr>
          <p:cNvPr id="3" name="Rectangle 2">
            <a:extLst>
              <a:ext uri="{FF2B5EF4-FFF2-40B4-BE49-F238E27FC236}">
                <a16:creationId xmlns:a16="http://schemas.microsoft.com/office/drawing/2014/main" id="{FBCC8858-8B8C-4673-8057-7A83F3C2105F}"/>
              </a:ext>
            </a:extLst>
          </p:cNvPr>
          <p:cNvSpPr>
            <a:spLocks noGrp="1"/>
          </p:cNvSpPr>
          <p:nvPr/>
        </p:nvSpPr>
        <p:spPr>
          <a:xfrm>
            <a:off x="1181100" y="2076450"/>
            <a:ext cx="9525000" cy="552450"/>
          </a:xfrm>
          <a:prstGeom prst="rect">
            <a:avLst/>
          </a:prstGeom>
          <a:noFill/>
          <a:ln w="0">
            <a:noFill/>
            <a:prstDash val="solid"/>
          </a:ln>
        </p:spPr>
        <p:txBody>
          <a:bodyPr>
            <a:normAutofit/>
          </a:bodyPr>
          <a:lstStyle>
            <a:defPPr>
              <a:defRPr sz="2400" b="0">
                <a:solidFill>
                  <a:srgbClr val="D8E5ED"/>
                </a:solidFill>
                <a:latin typeface="Arial"/>
                <a:ea typeface="Arial"/>
                <a:cs typeface="Arial"/>
              </a:defRPr>
            </a:defPPr>
            <a:lvl1pPr>
              <a:defRPr sz="2400" b="0">
                <a:solidFill>
                  <a:srgbClr val="D8E5ED"/>
                </a:solidFill>
                <a:latin typeface="Arial"/>
                <a:ea typeface="Arial"/>
                <a:cs typeface="Arial"/>
              </a:defRPr>
            </a:lvl1pPr>
            <a:lvl2pPr>
              <a:defRPr sz="2400" b="0">
                <a:solidFill>
                  <a:srgbClr val="D8E5ED"/>
                </a:solidFill>
                <a:latin typeface="Arial"/>
                <a:ea typeface="Arial"/>
                <a:cs typeface="Arial"/>
              </a:defRPr>
            </a:lvl2pPr>
            <a:lvl3pPr>
              <a:defRPr sz="2400" b="0">
                <a:solidFill>
                  <a:srgbClr val="D8E5ED"/>
                </a:solidFill>
                <a:latin typeface="Arial"/>
                <a:ea typeface="Arial"/>
                <a:cs typeface="Arial"/>
              </a:defRPr>
            </a:lvl3pPr>
            <a:lvl4pPr>
              <a:defRPr sz="2400" b="0">
                <a:solidFill>
                  <a:srgbClr val="D8E5ED"/>
                </a:solidFill>
                <a:latin typeface="Arial"/>
                <a:ea typeface="Arial"/>
                <a:cs typeface="Arial"/>
              </a:defRPr>
            </a:lvl4pPr>
            <a:lvl5pPr>
              <a:defRPr sz="2400" b="0">
                <a:solidFill>
                  <a:srgbClr val="D8E5ED"/>
                </a:solidFill>
                <a:latin typeface="Arial"/>
                <a:ea typeface="Arial"/>
                <a:cs typeface="Arial"/>
              </a:defRPr>
            </a:lvl5pPr>
            <a:lvl6pPr>
              <a:defRPr sz="2400" b="0">
                <a:solidFill>
                  <a:srgbClr val="D8E5ED"/>
                </a:solidFill>
                <a:latin typeface="Arial"/>
                <a:ea typeface="Arial"/>
                <a:cs typeface="Arial"/>
              </a:defRPr>
            </a:lvl6pPr>
            <a:lvl7pPr>
              <a:defRPr sz="2400" b="0">
                <a:solidFill>
                  <a:srgbClr val="D8E5ED"/>
                </a:solidFill>
                <a:latin typeface="Arial"/>
                <a:ea typeface="Arial"/>
                <a:cs typeface="Arial"/>
              </a:defRPr>
            </a:lvl7pPr>
            <a:lvl8pPr>
              <a:defRPr sz="2400" b="0">
                <a:solidFill>
                  <a:srgbClr val="D8E5ED"/>
                </a:solidFill>
                <a:latin typeface="Arial"/>
                <a:ea typeface="Arial"/>
                <a:cs typeface="Arial"/>
              </a:defRPr>
            </a:lvl8pPr>
            <a:lvl9pPr>
              <a:defRPr sz="2400" b="0">
                <a:solidFill>
                  <a:srgbClr val="D8E5ED"/>
                </a:solidFill>
                <a:latin typeface="Arial"/>
                <a:ea typeface="Arial"/>
                <a:cs typeface="Arial"/>
              </a:defRPr>
            </a:lvl9pPr>
          </a:lstStyle>
          <a:p>
            <a:pPr>
              <a:defRPr sz="2400" b="0">
                <a:solidFill>
                  <a:srgbClr val="D8E5ED"/>
                </a:solidFill>
                <a:latin typeface="Arial"/>
                <a:ea typeface="Arial"/>
                <a:cs typeface="Arial"/>
              </a:defRPr>
            </a:pPr>
            <a:r>
              <a:rPr sz="2400" b="0">
                <a:solidFill>
                  <a:srgbClr val="D8E5ED"/>
                </a:solidFill>
                <a:latin typeface="Arial"/>
                <a:ea typeface="Arial"/>
                <a:cs typeface="Arial"/>
              </a:rPr>
              <a:t>Final project closure and demonstration</a:t>
            </a:r>
          </a:p>
        </p:txBody>
      </p:sp>
      <p:sp>
        <p:nvSpPr>
          <p:cNvPr id="4" name="Rectangle 3">
            <a:extLst>
              <a:ext uri="{FF2B5EF4-FFF2-40B4-BE49-F238E27FC236}">
                <a16:creationId xmlns:a16="http://schemas.microsoft.com/office/drawing/2014/main" id="{9B11FBDE-FF88-4655-9231-5E4F95C2206A}"/>
              </a:ext>
            </a:extLst>
          </p:cNvPr>
          <p:cNvSpPr>
            <a:spLocks noGrp="1"/>
          </p:cNvSpPr>
          <p:nvPr/>
        </p:nvSpPr>
        <p:spPr>
          <a:xfrm>
            <a:off x="1181100" y="3209925"/>
            <a:ext cx="7239000" cy="361950"/>
          </a:xfrm>
          <a:prstGeom prst="rect">
            <a:avLst/>
          </a:prstGeom>
          <a:noFill/>
          <a:ln w="0">
            <a:noFill/>
            <a:prstDash val="solid"/>
          </a:ln>
        </p:spPr>
        <p:txBody>
          <a:bodyPr>
            <a:normAutofit/>
          </a:bodyPr>
          <a:lstStyle>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a:pPr>
              <a:defRPr sz="1650" b="1">
                <a:solidFill>
                  <a:srgbClr val="FFFFFF"/>
                </a:solidFill>
                <a:latin typeface="Arial"/>
                <a:ea typeface="Arial"/>
                <a:cs typeface="Arial"/>
              </a:defRPr>
            </a:pPr>
            <a:r>
              <a:rPr sz="1650" b="1">
                <a:solidFill>
                  <a:srgbClr val="FFFFFF"/>
                </a:solidFill>
                <a:latin typeface="Arial"/>
                <a:ea typeface="Arial"/>
                <a:cs typeface="Arial"/>
              </a:rPr>
              <a:t>SEN381 Software Engineering 381</a:t>
            </a:r>
          </a:p>
        </p:txBody>
      </p:sp>
      <p:sp>
        <p:nvSpPr>
          <p:cNvPr id="5" name="Rectangle 4">
            <a:extLst>
              <a:ext uri="{FF2B5EF4-FFF2-40B4-BE49-F238E27FC236}">
                <a16:creationId xmlns:a16="http://schemas.microsoft.com/office/drawing/2014/main" id="{D37A71F6-E486-419F-BFFC-DB0A9545A3D8}"/>
              </a:ext>
            </a:extLst>
          </p:cNvPr>
          <p:cNvSpPr>
            <a:spLocks noGrp="1"/>
          </p:cNvSpPr>
          <p:nvPr/>
        </p:nvSpPr>
        <p:spPr>
          <a:xfrm>
            <a:off x="1181100" y="3695700"/>
            <a:ext cx="7239000" cy="323850"/>
          </a:xfrm>
          <a:prstGeom prst="rect">
            <a:avLst/>
          </a:prstGeom>
          <a:noFill/>
          <a:ln w="0">
            <a:noFill/>
            <a:prstDash val="solid"/>
          </a:ln>
        </p:spPr>
        <p:txBody>
          <a:bodyPr>
            <a:normAutofit/>
          </a:bodyPr>
          <a:lstStyle>
            <a:defPPr>
              <a:defRPr sz="1500" b="0">
                <a:solidFill>
                  <a:srgbClr val="B9C9D5"/>
                </a:solidFill>
                <a:latin typeface="Arial"/>
                <a:ea typeface="Arial"/>
                <a:cs typeface="Arial"/>
              </a:defRPr>
            </a:defPPr>
            <a:lvl1pPr>
              <a:defRPr sz="1500" b="0">
                <a:solidFill>
                  <a:srgbClr val="B9C9D5"/>
                </a:solidFill>
                <a:latin typeface="Arial"/>
                <a:ea typeface="Arial"/>
                <a:cs typeface="Arial"/>
              </a:defRPr>
            </a:lvl1pPr>
            <a:lvl2pPr>
              <a:defRPr sz="1500" b="0">
                <a:solidFill>
                  <a:srgbClr val="B9C9D5"/>
                </a:solidFill>
                <a:latin typeface="Arial"/>
                <a:ea typeface="Arial"/>
                <a:cs typeface="Arial"/>
              </a:defRPr>
            </a:lvl2pPr>
            <a:lvl3pPr>
              <a:defRPr sz="1500" b="0">
                <a:solidFill>
                  <a:srgbClr val="B9C9D5"/>
                </a:solidFill>
                <a:latin typeface="Arial"/>
                <a:ea typeface="Arial"/>
                <a:cs typeface="Arial"/>
              </a:defRPr>
            </a:lvl3pPr>
            <a:lvl4pPr>
              <a:defRPr sz="1500" b="0">
                <a:solidFill>
                  <a:srgbClr val="B9C9D5"/>
                </a:solidFill>
                <a:latin typeface="Arial"/>
                <a:ea typeface="Arial"/>
                <a:cs typeface="Arial"/>
              </a:defRPr>
            </a:lvl4pPr>
            <a:lvl5pPr>
              <a:defRPr sz="1500" b="0">
                <a:solidFill>
                  <a:srgbClr val="B9C9D5"/>
                </a:solidFill>
                <a:latin typeface="Arial"/>
                <a:ea typeface="Arial"/>
                <a:cs typeface="Arial"/>
              </a:defRPr>
            </a:lvl5pPr>
            <a:lvl6pPr>
              <a:defRPr sz="1500" b="0">
                <a:solidFill>
                  <a:srgbClr val="B9C9D5"/>
                </a:solidFill>
                <a:latin typeface="Arial"/>
                <a:ea typeface="Arial"/>
                <a:cs typeface="Arial"/>
              </a:defRPr>
            </a:lvl6pPr>
            <a:lvl7pPr>
              <a:defRPr sz="1500" b="0">
                <a:solidFill>
                  <a:srgbClr val="B9C9D5"/>
                </a:solidFill>
                <a:latin typeface="Arial"/>
                <a:ea typeface="Arial"/>
                <a:cs typeface="Arial"/>
              </a:defRPr>
            </a:lvl7pPr>
            <a:lvl8pPr>
              <a:defRPr sz="1500" b="0">
                <a:solidFill>
                  <a:srgbClr val="B9C9D5"/>
                </a:solidFill>
                <a:latin typeface="Arial"/>
                <a:ea typeface="Arial"/>
                <a:cs typeface="Arial"/>
              </a:defRPr>
            </a:lvl8pPr>
            <a:lvl9pPr>
              <a:defRPr sz="1500" b="0">
                <a:solidFill>
                  <a:srgbClr val="B9C9D5"/>
                </a:solidFill>
                <a:latin typeface="Arial"/>
                <a:ea typeface="Arial"/>
                <a:cs typeface="Arial"/>
              </a:defRPr>
            </a:lvl9pPr>
          </a:lstStyle>
          <a:p>
            <a:pPr>
              <a:defRPr sz="1500" b="0">
                <a:solidFill>
                  <a:srgbClr val="B9C9D5"/>
                </a:solidFill>
                <a:latin typeface="Arial"/>
                <a:ea typeface="Arial"/>
                <a:cs typeface="Arial"/>
              </a:defRPr>
            </a:pPr>
            <a:r>
              <a:rPr sz="1500" b="0">
                <a:solidFill>
                  <a:srgbClr val="B9C9D5"/>
                </a:solidFill>
                <a:latin typeface="Arial"/>
                <a:ea typeface="Arial"/>
                <a:cs typeface="Arial"/>
              </a:rPr>
              <a:t>M4 final evidence baseline</a:t>
            </a:r>
          </a:p>
        </p:txBody>
      </p:sp>
      <p:sp>
        <p:nvSpPr>
          <p:cNvPr id="6" name="Rectangle 5">
            <a:extLst>
              <a:ext uri="{FF2B5EF4-FFF2-40B4-BE49-F238E27FC236}">
                <a16:creationId xmlns:a16="http://schemas.microsoft.com/office/drawing/2014/main" id="{A278AF99-C122-44D9-AAD8-2726518069DD}"/>
              </a:ext>
            </a:extLst>
          </p:cNvPr>
          <p:cNvSpPr>
            <a:spLocks noGrp="1"/>
          </p:cNvSpPr>
          <p:nvPr/>
        </p:nvSpPr>
        <p:spPr>
          <a:xfrm>
            <a:off x="1181100" y="4238625"/>
            <a:ext cx="10096500" cy="323850"/>
          </a:xfrm>
          <a:prstGeom prst="rect">
            <a:avLst/>
          </a:prstGeom>
          <a:noFill/>
          <a:ln w="0">
            <a:noFill/>
            <a:prstDash val="solid"/>
          </a:ln>
        </p:spPr>
        <p:txBody>
          <a:bodyPr>
            <a:normAutofit/>
          </a:bodyPr>
          <a:lstStyle>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a:pPr>
              <a:defRPr sz="1350" b="0">
                <a:solidFill>
                  <a:srgbClr val="FFFFFF"/>
                </a:solidFill>
                <a:latin typeface="Arial"/>
                <a:ea typeface="Arial"/>
                <a:cs typeface="Arial"/>
              </a:defRPr>
            </a:pPr>
            <a:r>
              <a:rPr sz="1350" b="0">
                <a:solidFill>
                  <a:srgbClr val="FFFFFF"/>
                </a:solidFill>
                <a:latin typeface="Arial"/>
                <a:ea typeface="Arial"/>
                <a:cs typeface="Arial"/>
              </a:rPr>
              <a:t>main  c8fcc9887d58bc07e7b592e292dbe05222d97190</a:t>
            </a:r>
          </a:p>
        </p:txBody>
      </p:sp>
      <p:sp>
        <p:nvSpPr>
          <p:cNvPr id="7" name="Rectangle 6">
            <a:extLst>
              <a:ext uri="{FF2B5EF4-FFF2-40B4-BE49-F238E27FC236}">
                <a16:creationId xmlns:a16="http://schemas.microsoft.com/office/drawing/2014/main" id="{E90D18D8-A205-4192-8C2C-BEBC1143010D}"/>
              </a:ext>
            </a:extLst>
          </p:cNvPr>
          <p:cNvSpPr>
            <a:spLocks noGrp="1"/>
          </p:cNvSpPr>
          <p:nvPr/>
        </p:nvSpPr>
        <p:spPr>
          <a:xfrm>
            <a:off x="1181100" y="5962650"/>
            <a:ext cx="4762500" cy="228600"/>
          </a:xfrm>
          <a:prstGeom prst="rect">
            <a:avLst/>
          </a:prstGeom>
          <a:noFill/>
          <a:ln w="0">
            <a:noFill/>
            <a:prstDash val="solid"/>
          </a:ln>
        </p:spPr>
        <p:txBody>
          <a:bodyPr>
            <a:normAutofit fontScale="75000"/>
          </a:bodyPr>
          <a:lstStyle>
            <a:defPPr>
              <a:defRPr sz="1200" b="0">
                <a:solidFill>
                  <a:srgbClr val="B9C9D5"/>
                </a:solidFill>
                <a:latin typeface="Arial"/>
                <a:ea typeface="Arial"/>
                <a:cs typeface="Arial"/>
              </a:defRPr>
            </a:defPPr>
            <a:lvl1pPr>
              <a:defRPr sz="1200" b="0">
                <a:solidFill>
                  <a:srgbClr val="B9C9D5"/>
                </a:solidFill>
                <a:latin typeface="Arial"/>
                <a:ea typeface="Arial"/>
                <a:cs typeface="Arial"/>
              </a:defRPr>
            </a:lvl1pPr>
            <a:lvl2pPr>
              <a:defRPr sz="1200" b="0">
                <a:solidFill>
                  <a:srgbClr val="B9C9D5"/>
                </a:solidFill>
                <a:latin typeface="Arial"/>
                <a:ea typeface="Arial"/>
                <a:cs typeface="Arial"/>
              </a:defRPr>
            </a:lvl2pPr>
            <a:lvl3pPr>
              <a:defRPr sz="1200" b="0">
                <a:solidFill>
                  <a:srgbClr val="B9C9D5"/>
                </a:solidFill>
                <a:latin typeface="Arial"/>
                <a:ea typeface="Arial"/>
                <a:cs typeface="Arial"/>
              </a:defRPr>
            </a:lvl3pPr>
            <a:lvl4pPr>
              <a:defRPr sz="1200" b="0">
                <a:solidFill>
                  <a:srgbClr val="B9C9D5"/>
                </a:solidFill>
                <a:latin typeface="Arial"/>
                <a:ea typeface="Arial"/>
                <a:cs typeface="Arial"/>
              </a:defRPr>
            </a:lvl4pPr>
            <a:lvl5pPr>
              <a:defRPr sz="1200" b="0">
                <a:solidFill>
                  <a:srgbClr val="B9C9D5"/>
                </a:solidFill>
                <a:latin typeface="Arial"/>
                <a:ea typeface="Arial"/>
                <a:cs typeface="Arial"/>
              </a:defRPr>
            </a:lvl5pPr>
            <a:lvl6pPr>
              <a:defRPr sz="1200" b="0">
                <a:solidFill>
                  <a:srgbClr val="B9C9D5"/>
                </a:solidFill>
                <a:latin typeface="Arial"/>
                <a:ea typeface="Arial"/>
                <a:cs typeface="Arial"/>
              </a:defRPr>
            </a:lvl6pPr>
            <a:lvl7pPr>
              <a:defRPr sz="1200" b="0">
                <a:solidFill>
                  <a:srgbClr val="B9C9D5"/>
                </a:solidFill>
                <a:latin typeface="Arial"/>
                <a:ea typeface="Arial"/>
                <a:cs typeface="Arial"/>
              </a:defRPr>
            </a:lvl7pPr>
            <a:lvl8pPr>
              <a:defRPr sz="1200" b="0">
                <a:solidFill>
                  <a:srgbClr val="B9C9D5"/>
                </a:solidFill>
                <a:latin typeface="Arial"/>
                <a:ea typeface="Arial"/>
                <a:cs typeface="Arial"/>
              </a:defRPr>
            </a:lvl8pPr>
            <a:lvl9pPr>
              <a:defRPr sz="1200" b="0">
                <a:solidFill>
                  <a:srgbClr val="B9C9D5"/>
                </a:solidFill>
                <a:latin typeface="Arial"/>
                <a:ea typeface="Arial"/>
                <a:cs typeface="Arial"/>
              </a:defRPr>
            </a:lvl9pPr>
          </a:lstStyle>
          <a:p>
            <a:pPr>
              <a:defRPr sz="1200" b="0">
                <a:solidFill>
                  <a:srgbClr val="B9C9D5"/>
                </a:solidFill>
                <a:latin typeface="Arial"/>
                <a:ea typeface="Arial"/>
                <a:cs typeface="Arial"/>
              </a:defRPr>
            </a:pPr>
            <a:r>
              <a:rPr sz="1200" b="0">
                <a:solidFill>
                  <a:srgbClr val="B9C9D5"/>
                </a:solidFill>
                <a:latin typeface="Arial"/>
                <a:ea typeface="Arial"/>
                <a:cs typeface="Arial"/>
              </a:rPr>
              <a:t>17 October 2026</a:t>
            </a:r>
          </a:p>
        </p:txBody>
      </p:sp>
    </p:spTree>
    <p:extLst>
      <p:ext uri="{BB962C8B-B14F-4D97-AF65-F5344CB8AC3E}">
        <p14:creationId xmlns:p14="http://schemas.microsoft.com/office/powerpoint/2010/main" val="160735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CC30CCC-9989-4982-9F9B-995997C0F442}"/>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8CB1DE72-7ADC-4924-B483-692DF3B2892F}"/>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Project purpose and approved scope</a:t>
            </a:r>
          </a:p>
        </p:txBody>
      </p:sp>
      <p:sp>
        <p:nvSpPr>
          <p:cNvPr id="3" name="Rectangle 2">
            <a:extLst>
              <a:ext uri="{FF2B5EF4-FFF2-40B4-BE49-F238E27FC236}">
                <a16:creationId xmlns:a16="http://schemas.microsoft.com/office/drawing/2014/main" id="{5ABC4684-7A09-44C8-94A5-E45203C46E82}"/>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9FAFA519-A8A4-4D22-BF67-B46B9E2236F9}"/>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52894907-B537-4E40-B554-16AB1B728D6D}"/>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02</a:t>
            </a:r>
          </a:p>
        </p:txBody>
      </p:sp>
      <p:sp>
        <p:nvSpPr>
          <p:cNvPr id="6" name="Rectangle 5">
            <a:extLst>
              <a:ext uri="{FF2B5EF4-FFF2-40B4-BE49-F238E27FC236}">
                <a16:creationId xmlns:a16="http://schemas.microsoft.com/office/drawing/2014/main" id="{45FDC170-DEAE-41D9-91C7-307944E842AE}"/>
              </a:ext>
            </a:extLst>
          </p:cNvPr>
          <p:cNvSpPr>
            <a:spLocks noGrp="1"/>
          </p:cNvSpPr>
          <p:nvPr/>
        </p:nvSpPr>
        <p:spPr>
          <a:xfrm>
            <a:off x="723900" y="1562100"/>
            <a:ext cx="10477500" cy="647700"/>
          </a:xfrm>
          <a:prstGeom prst="rect">
            <a:avLst/>
          </a:prstGeom>
          <a:noFill/>
          <a:ln w="0">
            <a:noFill/>
            <a:prstDash val="solid"/>
          </a:ln>
        </p:spPr>
        <p:txBody>
          <a:bodyPr>
            <a:normAutofit fontScale="86905"/>
          </a:bodyPr>
          <a:lstStyle>
            <a:defPPr>
              <a:defRPr sz="2100" b="1">
                <a:solidFill>
                  <a:srgbClr val="172B3A"/>
                </a:solidFill>
                <a:latin typeface="Arial"/>
                <a:ea typeface="Arial"/>
                <a:cs typeface="Arial"/>
              </a:defRPr>
            </a:defPPr>
            <a:lvl1pPr>
              <a:defRPr sz="2100" b="1">
                <a:solidFill>
                  <a:srgbClr val="172B3A"/>
                </a:solidFill>
                <a:latin typeface="Arial"/>
                <a:ea typeface="Arial"/>
                <a:cs typeface="Arial"/>
              </a:defRPr>
            </a:lvl1pPr>
            <a:lvl2pPr>
              <a:defRPr sz="2100" b="1">
                <a:solidFill>
                  <a:srgbClr val="172B3A"/>
                </a:solidFill>
                <a:latin typeface="Arial"/>
                <a:ea typeface="Arial"/>
                <a:cs typeface="Arial"/>
              </a:defRPr>
            </a:lvl2pPr>
            <a:lvl3pPr>
              <a:defRPr sz="2100" b="1">
                <a:solidFill>
                  <a:srgbClr val="172B3A"/>
                </a:solidFill>
                <a:latin typeface="Arial"/>
                <a:ea typeface="Arial"/>
                <a:cs typeface="Arial"/>
              </a:defRPr>
            </a:lvl3pPr>
            <a:lvl4pPr>
              <a:defRPr sz="2100" b="1">
                <a:solidFill>
                  <a:srgbClr val="172B3A"/>
                </a:solidFill>
                <a:latin typeface="Arial"/>
                <a:ea typeface="Arial"/>
                <a:cs typeface="Arial"/>
              </a:defRPr>
            </a:lvl4pPr>
            <a:lvl5pPr>
              <a:defRPr sz="2100" b="1">
                <a:solidFill>
                  <a:srgbClr val="172B3A"/>
                </a:solidFill>
                <a:latin typeface="Arial"/>
                <a:ea typeface="Arial"/>
                <a:cs typeface="Arial"/>
              </a:defRPr>
            </a:lvl5pPr>
            <a:lvl6pPr>
              <a:defRPr sz="2100" b="1">
                <a:solidFill>
                  <a:srgbClr val="172B3A"/>
                </a:solidFill>
                <a:latin typeface="Arial"/>
                <a:ea typeface="Arial"/>
                <a:cs typeface="Arial"/>
              </a:defRPr>
            </a:lvl6pPr>
            <a:lvl7pPr>
              <a:defRPr sz="2100" b="1">
                <a:solidFill>
                  <a:srgbClr val="172B3A"/>
                </a:solidFill>
                <a:latin typeface="Arial"/>
                <a:ea typeface="Arial"/>
                <a:cs typeface="Arial"/>
              </a:defRPr>
            </a:lvl7pPr>
            <a:lvl8pPr>
              <a:defRPr sz="2100" b="1">
                <a:solidFill>
                  <a:srgbClr val="172B3A"/>
                </a:solidFill>
                <a:latin typeface="Arial"/>
                <a:ea typeface="Arial"/>
                <a:cs typeface="Arial"/>
              </a:defRPr>
            </a:lvl8pPr>
            <a:lvl9pPr>
              <a:defRPr sz="2100" b="1">
                <a:solidFill>
                  <a:srgbClr val="172B3A"/>
                </a:solidFill>
                <a:latin typeface="Arial"/>
                <a:ea typeface="Arial"/>
                <a:cs typeface="Arial"/>
              </a:defRPr>
            </a:lvl9pPr>
          </a:lstStyle>
          <a:p>
            <a:pPr>
              <a:defRPr sz="2100" b="1">
                <a:solidFill>
                  <a:srgbClr val="172B3A"/>
                </a:solidFill>
                <a:latin typeface="Arial"/>
                <a:ea typeface="Arial"/>
                <a:cs typeface="Arial"/>
              </a:defRPr>
            </a:pPr>
            <a:r>
              <a:rPr sz="2100" b="1">
                <a:solidFill>
                  <a:srgbClr val="172B3A"/>
                </a:solidFill>
                <a:latin typeface="Arial"/>
                <a:ea typeface="Arial"/>
                <a:cs typeface="Arial"/>
              </a:rPr>
              <a:t>CivicConnect provides a central workflow for citizen service requests and organisational follow-up.</a:t>
            </a:r>
          </a:p>
        </p:txBody>
      </p:sp>
      <p:sp>
        <p:nvSpPr>
          <p:cNvPr id="7" name="Rectangle 6">
            <a:extLst>
              <a:ext uri="{FF2B5EF4-FFF2-40B4-BE49-F238E27FC236}">
                <a16:creationId xmlns:a16="http://schemas.microsoft.com/office/drawing/2014/main" id="{EF8B69D2-FF48-46CE-B0A3-708B53CB4EF6}"/>
              </a:ext>
            </a:extLst>
          </p:cNvPr>
          <p:cNvSpPr>
            <a:spLocks noGrp="1"/>
          </p:cNvSpPr>
          <p:nvPr/>
        </p:nvSpPr>
        <p:spPr>
          <a:xfrm>
            <a:off x="742950" y="24574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8" name="Rectangle 7">
            <a:extLst>
              <a:ext uri="{FF2B5EF4-FFF2-40B4-BE49-F238E27FC236}">
                <a16:creationId xmlns:a16="http://schemas.microsoft.com/office/drawing/2014/main" id="{4D7C801B-C8A1-4582-AA89-A19E007B8B7C}"/>
              </a:ext>
            </a:extLst>
          </p:cNvPr>
          <p:cNvSpPr>
            <a:spLocks noGrp="1"/>
          </p:cNvSpPr>
          <p:nvPr/>
        </p:nvSpPr>
        <p:spPr>
          <a:xfrm>
            <a:off x="1371600" y="24574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Citizen access</a:t>
            </a:r>
          </a:p>
        </p:txBody>
      </p:sp>
      <p:sp>
        <p:nvSpPr>
          <p:cNvPr id="9" name="Rectangle 8">
            <a:extLst>
              <a:ext uri="{FF2B5EF4-FFF2-40B4-BE49-F238E27FC236}">
                <a16:creationId xmlns:a16="http://schemas.microsoft.com/office/drawing/2014/main" id="{F61EBE74-681B-41B3-B10A-AA7233256E0C}"/>
              </a:ext>
            </a:extLst>
          </p:cNvPr>
          <p:cNvSpPr>
            <a:spLocks noGrp="1"/>
          </p:cNvSpPr>
          <p:nvPr/>
        </p:nvSpPr>
        <p:spPr>
          <a:xfrm>
            <a:off x="1371600" y="28289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Register, submit a categorised request, receive a reference, and track status and history.</a:t>
            </a:r>
          </a:p>
        </p:txBody>
      </p:sp>
      <p:sp>
        <p:nvSpPr>
          <p:cNvPr id="10" name="Rectangle 9">
            <a:extLst>
              <a:ext uri="{FF2B5EF4-FFF2-40B4-BE49-F238E27FC236}">
                <a16:creationId xmlns:a16="http://schemas.microsoft.com/office/drawing/2014/main" id="{8CAB7EA1-A9CC-4998-B27A-053B21361195}"/>
              </a:ext>
            </a:extLst>
          </p:cNvPr>
          <p:cNvSpPr>
            <a:spLocks noGrp="1"/>
          </p:cNvSpPr>
          <p:nvPr/>
        </p:nvSpPr>
        <p:spPr>
          <a:xfrm>
            <a:off x="742950" y="35623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1" name="Rectangle 10">
            <a:extLst>
              <a:ext uri="{FF2B5EF4-FFF2-40B4-BE49-F238E27FC236}">
                <a16:creationId xmlns:a16="http://schemas.microsoft.com/office/drawing/2014/main" id="{189C155B-5134-4293-90AF-64325B8D5167}"/>
              </a:ext>
            </a:extLst>
          </p:cNvPr>
          <p:cNvSpPr>
            <a:spLocks noGrp="1"/>
          </p:cNvSpPr>
          <p:nvPr/>
        </p:nvSpPr>
        <p:spPr>
          <a:xfrm>
            <a:off x="1371600" y="35623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Staff processing</a:t>
            </a:r>
          </a:p>
        </p:txBody>
      </p:sp>
      <p:sp>
        <p:nvSpPr>
          <p:cNvPr id="12" name="Rectangle 11">
            <a:extLst>
              <a:ext uri="{FF2B5EF4-FFF2-40B4-BE49-F238E27FC236}">
                <a16:creationId xmlns:a16="http://schemas.microsoft.com/office/drawing/2014/main" id="{DCC1A59B-0158-4624-8478-0EED9691AB30}"/>
              </a:ext>
            </a:extLst>
          </p:cNvPr>
          <p:cNvSpPr>
            <a:spLocks noGrp="1"/>
          </p:cNvSpPr>
          <p:nvPr/>
        </p:nvSpPr>
        <p:spPr>
          <a:xfrm>
            <a:off x="1371600" y="39338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Authorised staff find relevant requests, accept or assign work, and record controlled lifecycle actions.</a:t>
            </a:r>
          </a:p>
        </p:txBody>
      </p:sp>
      <p:sp>
        <p:nvSpPr>
          <p:cNvPr id="13" name="Rectangle 12">
            <a:extLst>
              <a:ext uri="{FF2B5EF4-FFF2-40B4-BE49-F238E27FC236}">
                <a16:creationId xmlns:a16="http://schemas.microsoft.com/office/drawing/2014/main" id="{4AB87D42-8019-40A6-B0D9-C136D040F0CF}"/>
              </a:ext>
            </a:extLst>
          </p:cNvPr>
          <p:cNvSpPr>
            <a:spLocks noGrp="1"/>
          </p:cNvSpPr>
          <p:nvPr/>
        </p:nvSpPr>
        <p:spPr>
          <a:xfrm>
            <a:off x="742950" y="46672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4" name="Rectangle 13">
            <a:extLst>
              <a:ext uri="{FF2B5EF4-FFF2-40B4-BE49-F238E27FC236}">
                <a16:creationId xmlns:a16="http://schemas.microsoft.com/office/drawing/2014/main" id="{3C108598-D8E0-453D-B271-F61922C6E505}"/>
              </a:ext>
            </a:extLst>
          </p:cNvPr>
          <p:cNvSpPr>
            <a:spLocks noGrp="1"/>
          </p:cNvSpPr>
          <p:nvPr/>
        </p:nvSpPr>
        <p:spPr>
          <a:xfrm>
            <a:off x="1371600" y="46672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Management oversight</a:t>
            </a:r>
          </a:p>
        </p:txBody>
      </p:sp>
      <p:sp>
        <p:nvSpPr>
          <p:cNvPr id="15" name="Rectangle 14">
            <a:extLst>
              <a:ext uri="{FF2B5EF4-FFF2-40B4-BE49-F238E27FC236}">
                <a16:creationId xmlns:a16="http://schemas.microsoft.com/office/drawing/2014/main" id="{BC16A36D-F783-4139-9B1C-4F7057C05BEB}"/>
              </a:ext>
            </a:extLst>
          </p:cNvPr>
          <p:cNvSpPr>
            <a:spLocks noGrp="1"/>
          </p:cNvSpPr>
          <p:nvPr/>
        </p:nvSpPr>
        <p:spPr>
          <a:xfrm>
            <a:off x="1371600" y="50387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Management reviews open, overdue, resolved and closed work with category and accountability information.</a:t>
            </a:r>
          </a:p>
        </p:txBody>
      </p:sp>
      <p:sp>
        <p:nvSpPr>
          <p:cNvPr id="16" name="Rectangle 15">
            <a:extLst>
              <a:ext uri="{FF2B5EF4-FFF2-40B4-BE49-F238E27FC236}">
                <a16:creationId xmlns:a16="http://schemas.microsoft.com/office/drawing/2014/main" id="{1834EE1B-1376-4C2F-8646-1D535F83D599}"/>
              </a:ext>
            </a:extLst>
          </p:cNvPr>
          <p:cNvSpPr>
            <a:spLocks noGrp="1"/>
          </p:cNvSpPr>
          <p:nvPr/>
        </p:nvSpPr>
        <p:spPr>
          <a:xfrm>
            <a:off x="723900" y="5791200"/>
            <a:ext cx="10668000" cy="419100"/>
          </a:xfrm>
          <a:prstGeom prst="rect">
            <a:avLst/>
          </a:prstGeom>
          <a:noFill/>
          <a:ln w="0">
            <a:noFill/>
            <a:prstDash val="solid"/>
          </a:ln>
        </p:spPr>
        <p:txBody>
          <a:bodyPr>
            <a:normAutofit/>
          </a:bodyPr>
          <a:lstStyle>
            <a:defPPr>
              <a:defRPr sz="1275" b="0">
                <a:solidFill>
                  <a:srgbClr val="536575"/>
                </a:solidFill>
                <a:latin typeface="Arial"/>
                <a:ea typeface="Arial"/>
                <a:cs typeface="Arial"/>
              </a:defRPr>
            </a:defPPr>
            <a:lvl1pPr>
              <a:defRPr sz="1275" b="0">
                <a:solidFill>
                  <a:srgbClr val="536575"/>
                </a:solidFill>
                <a:latin typeface="Arial"/>
                <a:ea typeface="Arial"/>
                <a:cs typeface="Arial"/>
              </a:defRPr>
            </a:lvl1pPr>
            <a:lvl2pPr>
              <a:defRPr sz="1275" b="0">
                <a:solidFill>
                  <a:srgbClr val="536575"/>
                </a:solidFill>
                <a:latin typeface="Arial"/>
                <a:ea typeface="Arial"/>
                <a:cs typeface="Arial"/>
              </a:defRPr>
            </a:lvl2pPr>
            <a:lvl3pPr>
              <a:defRPr sz="1275" b="0">
                <a:solidFill>
                  <a:srgbClr val="536575"/>
                </a:solidFill>
                <a:latin typeface="Arial"/>
                <a:ea typeface="Arial"/>
                <a:cs typeface="Arial"/>
              </a:defRPr>
            </a:lvl3pPr>
            <a:lvl4pPr>
              <a:defRPr sz="1275" b="0">
                <a:solidFill>
                  <a:srgbClr val="536575"/>
                </a:solidFill>
                <a:latin typeface="Arial"/>
                <a:ea typeface="Arial"/>
                <a:cs typeface="Arial"/>
              </a:defRPr>
            </a:lvl4pPr>
            <a:lvl5pPr>
              <a:defRPr sz="1275" b="0">
                <a:solidFill>
                  <a:srgbClr val="536575"/>
                </a:solidFill>
                <a:latin typeface="Arial"/>
                <a:ea typeface="Arial"/>
                <a:cs typeface="Arial"/>
              </a:defRPr>
            </a:lvl5pPr>
            <a:lvl6pPr>
              <a:defRPr sz="1275" b="0">
                <a:solidFill>
                  <a:srgbClr val="536575"/>
                </a:solidFill>
                <a:latin typeface="Arial"/>
                <a:ea typeface="Arial"/>
                <a:cs typeface="Arial"/>
              </a:defRPr>
            </a:lvl6pPr>
            <a:lvl7pPr>
              <a:defRPr sz="1275" b="0">
                <a:solidFill>
                  <a:srgbClr val="536575"/>
                </a:solidFill>
                <a:latin typeface="Arial"/>
                <a:ea typeface="Arial"/>
                <a:cs typeface="Arial"/>
              </a:defRPr>
            </a:lvl7pPr>
            <a:lvl8pPr>
              <a:defRPr sz="1275" b="0">
                <a:solidFill>
                  <a:srgbClr val="536575"/>
                </a:solidFill>
                <a:latin typeface="Arial"/>
                <a:ea typeface="Arial"/>
                <a:cs typeface="Arial"/>
              </a:defRPr>
            </a:lvl8pPr>
            <a:lvl9pPr>
              <a:defRPr sz="1275" b="0">
                <a:solidFill>
                  <a:srgbClr val="536575"/>
                </a:solidFill>
                <a:latin typeface="Arial"/>
                <a:ea typeface="Arial"/>
                <a:cs typeface="Arial"/>
              </a:defRPr>
            </a:lvl9pPr>
          </a:lstStyle>
          <a:p>
            <a:pPr>
              <a:defRPr sz="1275" b="0">
                <a:solidFill>
                  <a:srgbClr val="536575"/>
                </a:solidFill>
                <a:latin typeface="Arial"/>
                <a:ea typeface="Arial"/>
                <a:cs typeface="Arial"/>
              </a:defRPr>
            </a:pPr>
            <a:r>
              <a:rPr sz="1275" b="0">
                <a:solidFill>
                  <a:srgbClr val="536575"/>
                </a:solidFill>
                <a:latin typeface="Arial"/>
                <a:ea typeface="Arial"/>
                <a:cs typeface="Arial"/>
              </a:rPr>
              <a:t>Deferred in M1: advanced analytics, additional integrations, dedicated mobile application, advanced automated notifications.</a:t>
            </a:r>
          </a:p>
        </p:txBody>
      </p:sp>
    </p:spTree>
    <p:extLst>
      <p:ext uri="{BB962C8B-B14F-4D97-AF65-F5344CB8AC3E}">
        <p14:creationId xmlns:p14="http://schemas.microsoft.com/office/powerpoint/2010/main" val="2011682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75641FA-EF5D-46AF-81AC-66E014A28A79}"/>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5FCF8B15-426A-4B6E-9CB2-A57015E3D74B}"/>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Final integrated product</a:t>
            </a:r>
          </a:p>
        </p:txBody>
      </p:sp>
      <p:sp>
        <p:nvSpPr>
          <p:cNvPr id="3" name="Rectangle 2">
            <a:extLst>
              <a:ext uri="{FF2B5EF4-FFF2-40B4-BE49-F238E27FC236}">
                <a16:creationId xmlns:a16="http://schemas.microsoft.com/office/drawing/2014/main" id="{300C1C7E-C983-42A4-AE1B-FC70DCA1C140}"/>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D92FCFD2-CEB7-499A-B096-4595EBF8D9CA}"/>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5E615304-7AC4-4559-AA4A-A66B529449B9}"/>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03</a:t>
            </a:r>
          </a:p>
        </p:txBody>
      </p:sp>
      <p:sp>
        <p:nvSpPr>
          <p:cNvPr id="6" name="Rectangle 5">
            <a:extLst>
              <a:ext uri="{FF2B5EF4-FFF2-40B4-BE49-F238E27FC236}">
                <a16:creationId xmlns:a16="http://schemas.microsoft.com/office/drawing/2014/main" id="{FAB92F1E-6E8C-4DD4-9E88-2A1862DB4FB0}"/>
              </a:ext>
            </a:extLst>
          </p:cNvPr>
          <p:cNvSpPr>
            <a:spLocks noGrp="1"/>
          </p:cNvSpPr>
          <p:nvPr/>
        </p:nvSpPr>
        <p:spPr>
          <a:xfrm>
            <a:off x="723900" y="1504950"/>
            <a:ext cx="10477500" cy="457200"/>
          </a:xfrm>
          <a:prstGeom prst="rect">
            <a:avLst/>
          </a:prstGeom>
          <a:noFill/>
          <a:ln w="0">
            <a:noFill/>
            <a:prstDash val="solid"/>
          </a:ln>
        </p:spPr>
        <p:txBody>
          <a:bodyPr>
            <a:normAutofit/>
          </a:bodyPr>
          <a:lstStyle>
            <a:defPPr>
              <a:defRPr sz="2100" b="1">
                <a:solidFill>
                  <a:srgbClr val="172B3A"/>
                </a:solidFill>
                <a:latin typeface="Arial"/>
                <a:ea typeface="Arial"/>
                <a:cs typeface="Arial"/>
              </a:defRPr>
            </a:defPPr>
            <a:lvl1pPr>
              <a:defRPr sz="2100" b="1">
                <a:solidFill>
                  <a:srgbClr val="172B3A"/>
                </a:solidFill>
                <a:latin typeface="Arial"/>
                <a:ea typeface="Arial"/>
                <a:cs typeface="Arial"/>
              </a:defRPr>
            </a:lvl1pPr>
            <a:lvl2pPr>
              <a:defRPr sz="2100" b="1">
                <a:solidFill>
                  <a:srgbClr val="172B3A"/>
                </a:solidFill>
                <a:latin typeface="Arial"/>
                <a:ea typeface="Arial"/>
                <a:cs typeface="Arial"/>
              </a:defRPr>
            </a:lvl2pPr>
            <a:lvl3pPr>
              <a:defRPr sz="2100" b="1">
                <a:solidFill>
                  <a:srgbClr val="172B3A"/>
                </a:solidFill>
                <a:latin typeface="Arial"/>
                <a:ea typeface="Arial"/>
                <a:cs typeface="Arial"/>
              </a:defRPr>
            </a:lvl3pPr>
            <a:lvl4pPr>
              <a:defRPr sz="2100" b="1">
                <a:solidFill>
                  <a:srgbClr val="172B3A"/>
                </a:solidFill>
                <a:latin typeface="Arial"/>
                <a:ea typeface="Arial"/>
                <a:cs typeface="Arial"/>
              </a:defRPr>
            </a:lvl4pPr>
            <a:lvl5pPr>
              <a:defRPr sz="2100" b="1">
                <a:solidFill>
                  <a:srgbClr val="172B3A"/>
                </a:solidFill>
                <a:latin typeface="Arial"/>
                <a:ea typeface="Arial"/>
                <a:cs typeface="Arial"/>
              </a:defRPr>
            </a:lvl5pPr>
            <a:lvl6pPr>
              <a:defRPr sz="2100" b="1">
                <a:solidFill>
                  <a:srgbClr val="172B3A"/>
                </a:solidFill>
                <a:latin typeface="Arial"/>
                <a:ea typeface="Arial"/>
                <a:cs typeface="Arial"/>
              </a:defRPr>
            </a:lvl6pPr>
            <a:lvl7pPr>
              <a:defRPr sz="2100" b="1">
                <a:solidFill>
                  <a:srgbClr val="172B3A"/>
                </a:solidFill>
                <a:latin typeface="Arial"/>
                <a:ea typeface="Arial"/>
                <a:cs typeface="Arial"/>
              </a:defRPr>
            </a:lvl7pPr>
            <a:lvl8pPr>
              <a:defRPr sz="2100" b="1">
                <a:solidFill>
                  <a:srgbClr val="172B3A"/>
                </a:solidFill>
                <a:latin typeface="Arial"/>
                <a:ea typeface="Arial"/>
                <a:cs typeface="Arial"/>
              </a:defRPr>
            </a:lvl8pPr>
            <a:lvl9pPr>
              <a:defRPr sz="2100" b="1">
                <a:solidFill>
                  <a:srgbClr val="172B3A"/>
                </a:solidFill>
                <a:latin typeface="Arial"/>
                <a:ea typeface="Arial"/>
                <a:cs typeface="Arial"/>
              </a:defRPr>
            </a:lvl9pPr>
          </a:lstStyle>
          <a:p>
            <a:pPr>
              <a:defRPr sz="2100" b="1">
                <a:solidFill>
                  <a:srgbClr val="172B3A"/>
                </a:solidFill>
                <a:latin typeface="Arial"/>
                <a:ea typeface="Arial"/>
                <a:cs typeface="Arial"/>
              </a:defRPr>
            </a:pPr>
            <a:r>
              <a:rPr sz="2100" b="1">
                <a:solidFill>
                  <a:srgbClr val="172B3A"/>
                </a:solidFill>
                <a:latin typeface="Arial"/>
                <a:ea typeface="Arial"/>
                <a:cs typeface="Arial"/>
              </a:rPr>
              <a:t>One application connects the full request lifecycle.</a:t>
            </a:r>
          </a:p>
        </p:txBody>
      </p:sp>
      <p:sp>
        <p:nvSpPr>
          <p:cNvPr id="7" name="Rectangle 6">
            <a:extLst>
              <a:ext uri="{FF2B5EF4-FFF2-40B4-BE49-F238E27FC236}">
                <a16:creationId xmlns:a16="http://schemas.microsoft.com/office/drawing/2014/main" id="{74B91B9A-4E83-4CCC-BCA0-4827A61B2EF0}"/>
              </a:ext>
            </a:extLst>
          </p:cNvPr>
          <p:cNvSpPr>
            <a:spLocks noGrp="1"/>
          </p:cNvSpPr>
          <p:nvPr/>
        </p:nvSpPr>
        <p:spPr>
          <a:xfrm>
            <a:off x="742950" y="22669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8" name="Rectangle 7">
            <a:extLst>
              <a:ext uri="{FF2B5EF4-FFF2-40B4-BE49-F238E27FC236}">
                <a16:creationId xmlns:a16="http://schemas.microsoft.com/office/drawing/2014/main" id="{575B455E-A94D-412C-8063-81F77CF58AC8}"/>
              </a:ext>
            </a:extLst>
          </p:cNvPr>
          <p:cNvSpPr>
            <a:spLocks noGrp="1"/>
          </p:cNvSpPr>
          <p:nvPr/>
        </p:nvSpPr>
        <p:spPr>
          <a:xfrm>
            <a:off x="1371600" y="22669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Submit</a:t>
            </a:r>
          </a:p>
        </p:txBody>
      </p:sp>
      <p:sp>
        <p:nvSpPr>
          <p:cNvPr id="9" name="Rectangle 8">
            <a:extLst>
              <a:ext uri="{FF2B5EF4-FFF2-40B4-BE49-F238E27FC236}">
                <a16:creationId xmlns:a16="http://schemas.microsoft.com/office/drawing/2014/main" id="{3CF53729-04BE-48D4-815F-EF50BCACD7EB}"/>
              </a:ext>
            </a:extLst>
          </p:cNvPr>
          <p:cNvSpPr>
            <a:spLocks noGrp="1"/>
          </p:cNvSpPr>
          <p:nvPr/>
        </p:nvSpPr>
        <p:spPr>
          <a:xfrm>
            <a:off x="1371600" y="26384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A citizen signs in, completes validated request fields and receives a generated reference.</a:t>
            </a:r>
          </a:p>
        </p:txBody>
      </p:sp>
      <p:sp>
        <p:nvSpPr>
          <p:cNvPr id="10" name="Rectangle 9">
            <a:extLst>
              <a:ext uri="{FF2B5EF4-FFF2-40B4-BE49-F238E27FC236}">
                <a16:creationId xmlns:a16="http://schemas.microsoft.com/office/drawing/2014/main" id="{9A06100B-C290-4731-BD7E-EF6F1D373307}"/>
              </a:ext>
            </a:extLst>
          </p:cNvPr>
          <p:cNvSpPr>
            <a:spLocks noGrp="1"/>
          </p:cNvSpPr>
          <p:nvPr/>
        </p:nvSpPr>
        <p:spPr>
          <a:xfrm>
            <a:off x="742950" y="33718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1" name="Rectangle 10">
            <a:extLst>
              <a:ext uri="{FF2B5EF4-FFF2-40B4-BE49-F238E27FC236}">
                <a16:creationId xmlns:a16="http://schemas.microsoft.com/office/drawing/2014/main" id="{9A04D31B-2282-4C09-80C7-04F28BC41F0A}"/>
              </a:ext>
            </a:extLst>
          </p:cNvPr>
          <p:cNvSpPr>
            <a:spLocks noGrp="1"/>
          </p:cNvSpPr>
          <p:nvPr/>
        </p:nvSpPr>
        <p:spPr>
          <a:xfrm>
            <a:off x="1371600" y="33718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Process</a:t>
            </a:r>
          </a:p>
        </p:txBody>
      </p:sp>
      <p:sp>
        <p:nvSpPr>
          <p:cNvPr id="12" name="Rectangle 11">
            <a:extLst>
              <a:ext uri="{FF2B5EF4-FFF2-40B4-BE49-F238E27FC236}">
                <a16:creationId xmlns:a16="http://schemas.microsoft.com/office/drawing/2014/main" id="{4BD143B4-5E8B-4BA7-BACD-6AAFC46D8667}"/>
              </a:ext>
            </a:extLst>
          </p:cNvPr>
          <p:cNvSpPr>
            <a:spLocks noGrp="1"/>
          </p:cNvSpPr>
          <p:nvPr/>
        </p:nvSpPr>
        <p:spPr>
          <a:xfrm>
            <a:off x="1371600" y="37433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Department staff search and filter requests, assign responsibility and record allowed status changes.</a:t>
            </a:r>
          </a:p>
        </p:txBody>
      </p:sp>
      <p:sp>
        <p:nvSpPr>
          <p:cNvPr id="13" name="Rectangle 12">
            <a:extLst>
              <a:ext uri="{FF2B5EF4-FFF2-40B4-BE49-F238E27FC236}">
                <a16:creationId xmlns:a16="http://schemas.microsoft.com/office/drawing/2014/main" id="{53C1F247-51F7-4953-AD67-0465284EFA50}"/>
              </a:ext>
            </a:extLst>
          </p:cNvPr>
          <p:cNvSpPr>
            <a:spLocks noGrp="1"/>
          </p:cNvSpPr>
          <p:nvPr/>
        </p:nvSpPr>
        <p:spPr>
          <a:xfrm>
            <a:off x="742950" y="44767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4" name="Rectangle 13">
            <a:extLst>
              <a:ext uri="{FF2B5EF4-FFF2-40B4-BE49-F238E27FC236}">
                <a16:creationId xmlns:a16="http://schemas.microsoft.com/office/drawing/2014/main" id="{F0172476-73C8-4F5A-80A3-EA5B011C2CB9}"/>
              </a:ext>
            </a:extLst>
          </p:cNvPr>
          <p:cNvSpPr>
            <a:spLocks noGrp="1"/>
          </p:cNvSpPr>
          <p:nvPr/>
        </p:nvSpPr>
        <p:spPr>
          <a:xfrm>
            <a:off x="1371600" y="44767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Review</a:t>
            </a:r>
          </a:p>
        </p:txBody>
      </p:sp>
      <p:sp>
        <p:nvSpPr>
          <p:cNvPr id="15" name="Rectangle 14">
            <a:extLst>
              <a:ext uri="{FF2B5EF4-FFF2-40B4-BE49-F238E27FC236}">
                <a16:creationId xmlns:a16="http://schemas.microsoft.com/office/drawing/2014/main" id="{A8CAD371-A510-45C9-B6AD-EB57EBADE63F}"/>
              </a:ext>
            </a:extLst>
          </p:cNvPr>
          <p:cNvSpPr>
            <a:spLocks noGrp="1"/>
          </p:cNvSpPr>
          <p:nvPr/>
        </p:nvSpPr>
        <p:spPr>
          <a:xfrm>
            <a:off x="1371600" y="48482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The citizen sees status and explanations. Management reviews service activity and overdue work.</a:t>
            </a:r>
          </a:p>
        </p:txBody>
      </p:sp>
      <p:sp>
        <p:nvSpPr>
          <p:cNvPr id="16" name="Rectangle 15">
            <a:extLst>
              <a:ext uri="{FF2B5EF4-FFF2-40B4-BE49-F238E27FC236}">
                <a16:creationId xmlns:a16="http://schemas.microsoft.com/office/drawing/2014/main" id="{23761371-6C7A-4CE2-9A43-C21125A93196}"/>
              </a:ext>
            </a:extLst>
          </p:cNvPr>
          <p:cNvSpPr>
            <a:spLocks noGrp="1"/>
          </p:cNvSpPr>
          <p:nvPr/>
        </p:nvSpPr>
        <p:spPr>
          <a:xfrm>
            <a:off x="723900" y="5772150"/>
            <a:ext cx="10477500" cy="361950"/>
          </a:xfrm>
          <a:prstGeom prst="rect">
            <a:avLst/>
          </a:prstGeom>
          <a:noFill/>
          <a:ln w="0">
            <a:noFill/>
            <a:prstDash val="solid"/>
          </a:ln>
        </p:spPr>
        <p:txBody>
          <a:bodyPr>
            <a:normAutofit/>
          </a:bodyPr>
          <a:lstStyle>
            <a:defPPr>
              <a:defRPr sz="1350" b="1">
                <a:solidFill>
                  <a:srgbClr val="9D2A2A"/>
                </a:solidFill>
                <a:latin typeface="Arial"/>
                <a:ea typeface="Arial"/>
                <a:cs typeface="Arial"/>
              </a:defRPr>
            </a:defPPr>
            <a:lvl1pPr>
              <a:defRPr sz="1350" b="1">
                <a:solidFill>
                  <a:srgbClr val="9D2A2A"/>
                </a:solidFill>
                <a:latin typeface="Arial"/>
                <a:ea typeface="Arial"/>
                <a:cs typeface="Arial"/>
              </a:defRPr>
            </a:lvl1pPr>
            <a:lvl2pPr>
              <a:defRPr sz="1350" b="1">
                <a:solidFill>
                  <a:srgbClr val="9D2A2A"/>
                </a:solidFill>
                <a:latin typeface="Arial"/>
                <a:ea typeface="Arial"/>
                <a:cs typeface="Arial"/>
              </a:defRPr>
            </a:lvl2pPr>
            <a:lvl3pPr>
              <a:defRPr sz="1350" b="1">
                <a:solidFill>
                  <a:srgbClr val="9D2A2A"/>
                </a:solidFill>
                <a:latin typeface="Arial"/>
                <a:ea typeface="Arial"/>
                <a:cs typeface="Arial"/>
              </a:defRPr>
            </a:lvl3pPr>
            <a:lvl4pPr>
              <a:defRPr sz="1350" b="1">
                <a:solidFill>
                  <a:srgbClr val="9D2A2A"/>
                </a:solidFill>
                <a:latin typeface="Arial"/>
                <a:ea typeface="Arial"/>
                <a:cs typeface="Arial"/>
              </a:defRPr>
            </a:lvl4pPr>
            <a:lvl5pPr>
              <a:defRPr sz="1350" b="1">
                <a:solidFill>
                  <a:srgbClr val="9D2A2A"/>
                </a:solidFill>
                <a:latin typeface="Arial"/>
                <a:ea typeface="Arial"/>
                <a:cs typeface="Arial"/>
              </a:defRPr>
            </a:lvl5pPr>
            <a:lvl6pPr>
              <a:defRPr sz="1350" b="1">
                <a:solidFill>
                  <a:srgbClr val="9D2A2A"/>
                </a:solidFill>
                <a:latin typeface="Arial"/>
                <a:ea typeface="Arial"/>
                <a:cs typeface="Arial"/>
              </a:defRPr>
            </a:lvl6pPr>
            <a:lvl7pPr>
              <a:defRPr sz="1350" b="1">
                <a:solidFill>
                  <a:srgbClr val="9D2A2A"/>
                </a:solidFill>
                <a:latin typeface="Arial"/>
                <a:ea typeface="Arial"/>
                <a:cs typeface="Arial"/>
              </a:defRPr>
            </a:lvl7pPr>
            <a:lvl8pPr>
              <a:defRPr sz="1350" b="1">
                <a:solidFill>
                  <a:srgbClr val="9D2A2A"/>
                </a:solidFill>
                <a:latin typeface="Arial"/>
                <a:ea typeface="Arial"/>
                <a:cs typeface="Arial"/>
              </a:defRPr>
            </a:lvl8pPr>
            <a:lvl9pPr>
              <a:defRPr sz="1350" b="1">
                <a:solidFill>
                  <a:srgbClr val="9D2A2A"/>
                </a:solidFill>
                <a:latin typeface="Arial"/>
                <a:ea typeface="Arial"/>
                <a:cs typeface="Arial"/>
              </a:defRPr>
            </a:lvl9pPr>
          </a:lstStyle>
          <a:p>
            <a:pPr>
              <a:defRPr sz="1350" b="1">
                <a:solidFill>
                  <a:srgbClr val="9D2A2A"/>
                </a:solidFill>
                <a:latin typeface="Arial"/>
                <a:ea typeface="Arial"/>
                <a:cs typeface="Arial"/>
              </a:defRPr>
            </a:pPr>
            <a:r>
              <a:rPr sz="1350" b="1">
                <a:solidFill>
                  <a:srgbClr val="9D2A2A"/>
                </a:solidFill>
                <a:latin typeface="Arial"/>
                <a:ea typeface="Arial"/>
                <a:cs typeface="Arial"/>
              </a:rPr>
              <a:t>Demonstration data is synthetic. The local server is bound to the demonstration machine.</a:t>
            </a:r>
          </a:p>
        </p:txBody>
      </p:sp>
    </p:spTree>
    <p:extLst>
      <p:ext uri="{BB962C8B-B14F-4D97-AF65-F5344CB8AC3E}">
        <p14:creationId xmlns:p14="http://schemas.microsoft.com/office/powerpoint/2010/main" val="841910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1796269-21A9-4A73-9AB7-DC59EE13233C}"/>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D4597B89-7C7F-4A71-BF4A-267524B1DD02}"/>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Assessed product and evidence baseline</a:t>
            </a:r>
          </a:p>
        </p:txBody>
      </p:sp>
      <p:sp>
        <p:nvSpPr>
          <p:cNvPr id="3" name="Rectangle 2">
            <a:extLst>
              <a:ext uri="{FF2B5EF4-FFF2-40B4-BE49-F238E27FC236}">
                <a16:creationId xmlns:a16="http://schemas.microsoft.com/office/drawing/2014/main" id="{0F55C41E-8471-48EE-A385-95C4EE47260D}"/>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7575F6FE-801E-4716-9218-69C11FA945F4}"/>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1A0CC589-2617-4C37-91DA-C24AD8E17F52}"/>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04</a:t>
            </a:r>
          </a:p>
        </p:txBody>
      </p:sp>
      <p:sp>
        <p:nvSpPr>
          <p:cNvPr id="6" name="Rectangle 5">
            <a:extLst>
              <a:ext uri="{FF2B5EF4-FFF2-40B4-BE49-F238E27FC236}">
                <a16:creationId xmlns:a16="http://schemas.microsoft.com/office/drawing/2014/main" id="{4981A7F3-0846-4D8C-B6B3-6FEB7602622F}"/>
              </a:ext>
            </a:extLst>
          </p:cNvPr>
          <p:cNvSpPr>
            <a:spLocks noGrp="1"/>
          </p:cNvSpPr>
          <p:nvPr/>
        </p:nvSpPr>
        <p:spPr>
          <a:xfrm>
            <a:off x="742950" y="16954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7" name="Rectangle 6">
            <a:extLst>
              <a:ext uri="{FF2B5EF4-FFF2-40B4-BE49-F238E27FC236}">
                <a16:creationId xmlns:a16="http://schemas.microsoft.com/office/drawing/2014/main" id="{83B4AAB1-7ED0-4B07-91B1-A87E9C6F2629}"/>
              </a:ext>
            </a:extLst>
          </p:cNvPr>
          <p:cNvSpPr>
            <a:spLocks noGrp="1"/>
          </p:cNvSpPr>
          <p:nvPr/>
        </p:nvSpPr>
        <p:spPr>
          <a:xfrm>
            <a:off x="1371600" y="16954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Repository baseline</a:t>
            </a:r>
          </a:p>
        </p:txBody>
      </p:sp>
      <p:sp>
        <p:nvSpPr>
          <p:cNvPr id="8" name="Rectangle 7">
            <a:extLst>
              <a:ext uri="{FF2B5EF4-FFF2-40B4-BE49-F238E27FC236}">
                <a16:creationId xmlns:a16="http://schemas.microsoft.com/office/drawing/2014/main" id="{1CEDB133-AB16-45D4-945E-883CEC22DF73}"/>
              </a:ext>
            </a:extLst>
          </p:cNvPr>
          <p:cNvSpPr>
            <a:spLocks noGrp="1"/>
          </p:cNvSpPr>
          <p:nvPr/>
        </p:nvSpPr>
        <p:spPr>
          <a:xfrm>
            <a:off x="1371600" y="20669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main commit c8fcc9887d58bc07e7b592e292dbe05222d97190.</a:t>
            </a:r>
          </a:p>
        </p:txBody>
      </p:sp>
      <p:sp>
        <p:nvSpPr>
          <p:cNvPr id="9" name="Rectangle 8">
            <a:extLst>
              <a:ext uri="{FF2B5EF4-FFF2-40B4-BE49-F238E27FC236}">
                <a16:creationId xmlns:a16="http://schemas.microsoft.com/office/drawing/2014/main" id="{7F809853-831A-4930-AE36-67FC279DAB28}"/>
              </a:ext>
            </a:extLst>
          </p:cNvPr>
          <p:cNvSpPr>
            <a:spLocks noGrp="1"/>
          </p:cNvSpPr>
          <p:nvPr/>
        </p:nvSpPr>
        <p:spPr>
          <a:xfrm>
            <a:off x="742950" y="28003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0" name="Rectangle 9">
            <a:extLst>
              <a:ext uri="{FF2B5EF4-FFF2-40B4-BE49-F238E27FC236}">
                <a16:creationId xmlns:a16="http://schemas.microsoft.com/office/drawing/2014/main" id="{C1A53A6A-1C83-4B0D-95A0-575B1156953B}"/>
              </a:ext>
            </a:extLst>
          </p:cNvPr>
          <p:cNvSpPr>
            <a:spLocks noGrp="1"/>
          </p:cNvSpPr>
          <p:nvPr/>
        </p:nvSpPr>
        <p:spPr>
          <a:xfrm>
            <a:off x="1371600" y="28003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Application</a:t>
            </a:r>
          </a:p>
        </p:txBody>
      </p:sp>
      <p:sp>
        <p:nvSpPr>
          <p:cNvPr id="11" name="Rectangle 10">
            <a:extLst>
              <a:ext uri="{FF2B5EF4-FFF2-40B4-BE49-F238E27FC236}">
                <a16:creationId xmlns:a16="http://schemas.microsoft.com/office/drawing/2014/main" id="{01E6F800-E485-4395-80E3-A6DA369A1D42}"/>
              </a:ext>
            </a:extLst>
          </p:cNvPr>
          <p:cNvSpPr>
            <a:spLocks noGrp="1"/>
          </p:cNvSpPr>
          <p:nvPr/>
        </p:nvSpPr>
        <p:spPr>
          <a:xfrm>
            <a:off x="1371600" y="31718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Server-rendered Python application with SQLite, running locally with synthetic records.</a:t>
            </a:r>
          </a:p>
        </p:txBody>
      </p:sp>
      <p:sp>
        <p:nvSpPr>
          <p:cNvPr id="12" name="Rectangle 11">
            <a:extLst>
              <a:ext uri="{FF2B5EF4-FFF2-40B4-BE49-F238E27FC236}">
                <a16:creationId xmlns:a16="http://schemas.microsoft.com/office/drawing/2014/main" id="{5186E343-BD8C-4190-A89E-D3A31272FE97}"/>
              </a:ext>
            </a:extLst>
          </p:cNvPr>
          <p:cNvSpPr>
            <a:spLocks noGrp="1"/>
          </p:cNvSpPr>
          <p:nvPr/>
        </p:nvSpPr>
        <p:spPr>
          <a:xfrm>
            <a:off x="742950" y="39052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3" name="Rectangle 12">
            <a:extLst>
              <a:ext uri="{FF2B5EF4-FFF2-40B4-BE49-F238E27FC236}">
                <a16:creationId xmlns:a16="http://schemas.microsoft.com/office/drawing/2014/main" id="{56BD8398-EFBC-4DA2-B24E-273D886777A7}"/>
              </a:ext>
            </a:extLst>
          </p:cNvPr>
          <p:cNvSpPr>
            <a:spLocks noGrp="1"/>
          </p:cNvSpPr>
          <p:nvPr/>
        </p:nvSpPr>
        <p:spPr>
          <a:xfrm>
            <a:off x="1371600" y="39052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M3 automated evidence</a:t>
            </a:r>
          </a:p>
        </p:txBody>
      </p:sp>
      <p:sp>
        <p:nvSpPr>
          <p:cNvPr id="14" name="Rectangle 13">
            <a:extLst>
              <a:ext uri="{FF2B5EF4-FFF2-40B4-BE49-F238E27FC236}">
                <a16:creationId xmlns:a16="http://schemas.microsoft.com/office/drawing/2014/main" id="{5957F823-69AA-4F2D-9F4F-91FC2558AB93}"/>
              </a:ext>
            </a:extLst>
          </p:cNvPr>
          <p:cNvSpPr>
            <a:spLocks noGrp="1"/>
          </p:cNvSpPr>
          <p:nvPr/>
        </p:nvSpPr>
        <p:spPr>
          <a:xfrm>
            <a:off x="1371600" y="42767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Recorded local regression suite: 37 passed. GitHub Actions passed on application code commit 8751bdf.</a:t>
            </a:r>
          </a:p>
        </p:txBody>
      </p:sp>
      <p:sp>
        <p:nvSpPr>
          <p:cNvPr id="15" name="Rectangle 14">
            <a:extLst>
              <a:ext uri="{FF2B5EF4-FFF2-40B4-BE49-F238E27FC236}">
                <a16:creationId xmlns:a16="http://schemas.microsoft.com/office/drawing/2014/main" id="{14A29DAB-B909-494F-A54B-239B72E12037}"/>
              </a:ext>
            </a:extLst>
          </p:cNvPr>
          <p:cNvSpPr>
            <a:spLocks noGrp="1"/>
          </p:cNvSpPr>
          <p:nvPr/>
        </p:nvSpPr>
        <p:spPr>
          <a:xfrm>
            <a:off x="742950" y="50101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04</a:t>
            </a:r>
          </a:p>
        </p:txBody>
      </p:sp>
      <p:sp>
        <p:nvSpPr>
          <p:cNvPr id="16" name="Rectangle 15">
            <a:extLst>
              <a:ext uri="{FF2B5EF4-FFF2-40B4-BE49-F238E27FC236}">
                <a16:creationId xmlns:a16="http://schemas.microsoft.com/office/drawing/2014/main" id="{FC6E64F1-6963-43CC-8DD0-E8F80510E6A1}"/>
              </a:ext>
            </a:extLst>
          </p:cNvPr>
          <p:cNvSpPr>
            <a:spLocks noGrp="1"/>
          </p:cNvSpPr>
          <p:nvPr/>
        </p:nvSpPr>
        <p:spPr>
          <a:xfrm>
            <a:off x="1371600" y="50101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M4 website profile</a:t>
            </a:r>
          </a:p>
        </p:txBody>
      </p:sp>
      <p:sp>
        <p:nvSpPr>
          <p:cNvPr id="17" name="Rectangle 16">
            <a:extLst>
              <a:ext uri="{FF2B5EF4-FFF2-40B4-BE49-F238E27FC236}">
                <a16:creationId xmlns:a16="http://schemas.microsoft.com/office/drawing/2014/main" id="{75A33F6C-F6E9-4FA5-8BAE-235B4BF13304}"/>
              </a:ext>
            </a:extLst>
          </p:cNvPr>
          <p:cNvSpPr>
            <a:spLocks noGrp="1"/>
          </p:cNvSpPr>
          <p:nvPr/>
        </p:nvSpPr>
        <p:spPr>
          <a:xfrm>
            <a:off x="1371600" y="53816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Separate integrated website run: 50 authenticated users, 10,000 synthetic requests, 6,000 measured requests.</a:t>
            </a:r>
          </a:p>
        </p:txBody>
      </p:sp>
      <p:sp>
        <p:nvSpPr>
          <p:cNvPr id="18" name="Rectangle 17">
            <a:extLst>
              <a:ext uri="{FF2B5EF4-FFF2-40B4-BE49-F238E27FC236}">
                <a16:creationId xmlns:a16="http://schemas.microsoft.com/office/drawing/2014/main" id="{3406369B-B39B-45CA-B7DD-D0B32AC59A78}"/>
              </a:ext>
            </a:extLst>
          </p:cNvPr>
          <p:cNvSpPr>
            <a:spLocks noGrp="1"/>
          </p:cNvSpPr>
          <p:nvPr/>
        </p:nvSpPr>
        <p:spPr>
          <a:xfrm>
            <a:off x="723900" y="5962650"/>
            <a:ext cx="10477500" cy="285750"/>
          </a:xfrm>
          <a:prstGeom prst="rect">
            <a:avLst/>
          </a:prstGeom>
          <a:noFill/>
          <a:ln w="0">
            <a:noFill/>
            <a:prstDash val="solid"/>
          </a:ln>
        </p:spPr>
        <p:txBody>
          <a:bodyPr>
            <a:normAutofit/>
          </a:bodyPr>
          <a:lstStyle>
            <a:defPPr>
              <a:defRPr sz="1275" b="0">
                <a:solidFill>
                  <a:srgbClr val="536575"/>
                </a:solidFill>
                <a:latin typeface="Arial"/>
                <a:ea typeface="Arial"/>
                <a:cs typeface="Arial"/>
              </a:defRPr>
            </a:defPPr>
            <a:lvl1pPr>
              <a:defRPr sz="1275" b="0">
                <a:solidFill>
                  <a:srgbClr val="536575"/>
                </a:solidFill>
                <a:latin typeface="Arial"/>
                <a:ea typeface="Arial"/>
                <a:cs typeface="Arial"/>
              </a:defRPr>
            </a:lvl1pPr>
            <a:lvl2pPr>
              <a:defRPr sz="1275" b="0">
                <a:solidFill>
                  <a:srgbClr val="536575"/>
                </a:solidFill>
                <a:latin typeface="Arial"/>
                <a:ea typeface="Arial"/>
                <a:cs typeface="Arial"/>
              </a:defRPr>
            </a:lvl2pPr>
            <a:lvl3pPr>
              <a:defRPr sz="1275" b="0">
                <a:solidFill>
                  <a:srgbClr val="536575"/>
                </a:solidFill>
                <a:latin typeface="Arial"/>
                <a:ea typeface="Arial"/>
                <a:cs typeface="Arial"/>
              </a:defRPr>
            </a:lvl3pPr>
            <a:lvl4pPr>
              <a:defRPr sz="1275" b="0">
                <a:solidFill>
                  <a:srgbClr val="536575"/>
                </a:solidFill>
                <a:latin typeface="Arial"/>
                <a:ea typeface="Arial"/>
                <a:cs typeface="Arial"/>
              </a:defRPr>
            </a:lvl4pPr>
            <a:lvl5pPr>
              <a:defRPr sz="1275" b="0">
                <a:solidFill>
                  <a:srgbClr val="536575"/>
                </a:solidFill>
                <a:latin typeface="Arial"/>
                <a:ea typeface="Arial"/>
                <a:cs typeface="Arial"/>
              </a:defRPr>
            </a:lvl5pPr>
            <a:lvl6pPr>
              <a:defRPr sz="1275" b="0">
                <a:solidFill>
                  <a:srgbClr val="536575"/>
                </a:solidFill>
                <a:latin typeface="Arial"/>
                <a:ea typeface="Arial"/>
                <a:cs typeface="Arial"/>
              </a:defRPr>
            </a:lvl6pPr>
            <a:lvl7pPr>
              <a:defRPr sz="1275" b="0">
                <a:solidFill>
                  <a:srgbClr val="536575"/>
                </a:solidFill>
                <a:latin typeface="Arial"/>
                <a:ea typeface="Arial"/>
                <a:cs typeface="Arial"/>
              </a:defRPr>
            </a:lvl7pPr>
            <a:lvl8pPr>
              <a:defRPr sz="1275" b="0">
                <a:solidFill>
                  <a:srgbClr val="536575"/>
                </a:solidFill>
                <a:latin typeface="Arial"/>
                <a:ea typeface="Arial"/>
                <a:cs typeface="Arial"/>
              </a:defRPr>
            </a:lvl8pPr>
            <a:lvl9pPr>
              <a:defRPr sz="1275" b="0">
                <a:solidFill>
                  <a:srgbClr val="536575"/>
                </a:solidFill>
                <a:latin typeface="Arial"/>
                <a:ea typeface="Arial"/>
                <a:cs typeface="Arial"/>
              </a:defRPr>
            </a:lvl9pPr>
          </a:lstStyle>
          <a:p>
            <a:pPr>
              <a:defRPr sz="1275" b="0">
                <a:solidFill>
                  <a:srgbClr val="536575"/>
                </a:solidFill>
                <a:latin typeface="Arial"/>
                <a:ea typeface="Arial"/>
                <a:cs typeface="Arial"/>
              </a:defRPr>
            </a:pPr>
            <a:r>
              <a:rPr sz="1275" b="0">
                <a:solidFill>
                  <a:srgbClr val="536575"/>
                </a:solidFill>
                <a:latin typeface="Arial"/>
                <a:ea typeface="Arial"/>
                <a:cs typeface="Arial"/>
              </a:rPr>
              <a:t>The M4 documentation merge SHA must be recorded after protected-branch review.</a:t>
            </a:r>
          </a:p>
        </p:txBody>
      </p:sp>
    </p:spTree>
    <p:extLst>
      <p:ext uri="{BB962C8B-B14F-4D97-AF65-F5344CB8AC3E}">
        <p14:creationId xmlns:p14="http://schemas.microsoft.com/office/powerpoint/2010/main" val="883439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7ED8A2-E824-40E1-9CD5-AFDFF647E390}"/>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6962CA2E-C7E3-4857-B839-3BCBBD8B22CE}"/>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M1 scope completion</a:t>
            </a:r>
          </a:p>
        </p:txBody>
      </p:sp>
      <p:sp>
        <p:nvSpPr>
          <p:cNvPr id="3" name="Rectangle 2">
            <a:extLst>
              <a:ext uri="{FF2B5EF4-FFF2-40B4-BE49-F238E27FC236}">
                <a16:creationId xmlns:a16="http://schemas.microsoft.com/office/drawing/2014/main" id="{6B8F99C6-80DB-4CC9-9FE0-61D4726668D0}"/>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B81D7E0E-1796-4FDC-B342-92A55AED3678}"/>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3FFD5121-338D-49DA-8732-F8CFF26B198C}"/>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05</a:t>
            </a:r>
          </a:p>
        </p:txBody>
      </p:sp>
      <p:sp>
        <p:nvSpPr>
          <p:cNvPr id="6" name="Rectangle 5">
            <a:extLst>
              <a:ext uri="{FF2B5EF4-FFF2-40B4-BE49-F238E27FC236}">
                <a16:creationId xmlns:a16="http://schemas.microsoft.com/office/drawing/2014/main" id="{490201D9-A772-4291-8854-DA41D86B9664}"/>
              </a:ext>
            </a:extLst>
          </p:cNvPr>
          <p:cNvSpPr>
            <a:spLocks noGrp="1"/>
          </p:cNvSpPr>
          <p:nvPr/>
        </p:nvSpPr>
        <p:spPr>
          <a:xfrm>
            <a:off x="723900" y="1504950"/>
            <a:ext cx="10287000" cy="381000"/>
          </a:xfrm>
          <a:prstGeom prst="rect">
            <a:avLst/>
          </a:prstGeom>
          <a:noFill/>
          <a:ln w="0">
            <a:noFill/>
            <a:prstDash val="solid"/>
          </a:ln>
        </p:spPr>
        <p:txBody>
          <a:bodyPr>
            <a:normAutofit/>
          </a:bodyPr>
          <a:lstStyle>
            <a:defPPr>
              <a:defRPr sz="1800" b="1">
                <a:solidFill>
                  <a:srgbClr val="172B3A"/>
                </a:solidFill>
                <a:latin typeface="Arial"/>
                <a:ea typeface="Arial"/>
                <a:cs typeface="Arial"/>
              </a:defRPr>
            </a:defPPr>
            <a:lvl1pPr>
              <a:defRPr sz="1800" b="1">
                <a:solidFill>
                  <a:srgbClr val="172B3A"/>
                </a:solidFill>
                <a:latin typeface="Arial"/>
                <a:ea typeface="Arial"/>
                <a:cs typeface="Arial"/>
              </a:defRPr>
            </a:lvl1pPr>
            <a:lvl2pPr>
              <a:defRPr sz="1800" b="1">
                <a:solidFill>
                  <a:srgbClr val="172B3A"/>
                </a:solidFill>
                <a:latin typeface="Arial"/>
                <a:ea typeface="Arial"/>
                <a:cs typeface="Arial"/>
              </a:defRPr>
            </a:lvl2pPr>
            <a:lvl3pPr>
              <a:defRPr sz="1800" b="1">
                <a:solidFill>
                  <a:srgbClr val="172B3A"/>
                </a:solidFill>
                <a:latin typeface="Arial"/>
                <a:ea typeface="Arial"/>
                <a:cs typeface="Arial"/>
              </a:defRPr>
            </a:lvl3pPr>
            <a:lvl4pPr>
              <a:defRPr sz="1800" b="1">
                <a:solidFill>
                  <a:srgbClr val="172B3A"/>
                </a:solidFill>
                <a:latin typeface="Arial"/>
                <a:ea typeface="Arial"/>
                <a:cs typeface="Arial"/>
              </a:defRPr>
            </a:lvl4pPr>
            <a:lvl5pPr>
              <a:defRPr sz="1800" b="1">
                <a:solidFill>
                  <a:srgbClr val="172B3A"/>
                </a:solidFill>
                <a:latin typeface="Arial"/>
                <a:ea typeface="Arial"/>
                <a:cs typeface="Arial"/>
              </a:defRPr>
            </a:lvl5pPr>
            <a:lvl6pPr>
              <a:defRPr sz="1800" b="1">
                <a:solidFill>
                  <a:srgbClr val="172B3A"/>
                </a:solidFill>
                <a:latin typeface="Arial"/>
                <a:ea typeface="Arial"/>
                <a:cs typeface="Arial"/>
              </a:defRPr>
            </a:lvl6pPr>
            <a:lvl7pPr>
              <a:defRPr sz="1800" b="1">
                <a:solidFill>
                  <a:srgbClr val="172B3A"/>
                </a:solidFill>
                <a:latin typeface="Arial"/>
                <a:ea typeface="Arial"/>
                <a:cs typeface="Arial"/>
              </a:defRPr>
            </a:lvl7pPr>
            <a:lvl8pPr>
              <a:defRPr sz="1800" b="1">
                <a:solidFill>
                  <a:srgbClr val="172B3A"/>
                </a:solidFill>
                <a:latin typeface="Arial"/>
                <a:ea typeface="Arial"/>
                <a:cs typeface="Arial"/>
              </a:defRPr>
            </a:lvl8pPr>
            <a:lvl9pPr>
              <a:defRPr sz="1800" b="1">
                <a:solidFill>
                  <a:srgbClr val="172B3A"/>
                </a:solidFill>
                <a:latin typeface="Arial"/>
                <a:ea typeface="Arial"/>
                <a:cs typeface="Arial"/>
              </a:defRPr>
            </a:lvl9pPr>
          </a:lstStyle>
          <a:p>
            <a:pPr>
              <a:defRPr sz="1800" b="1">
                <a:solidFill>
                  <a:srgbClr val="172B3A"/>
                </a:solidFill>
                <a:latin typeface="Arial"/>
                <a:ea typeface="Arial"/>
                <a:cs typeface="Arial"/>
              </a:defRPr>
            </a:pPr>
            <a:r>
              <a:rPr sz="1800" b="1">
                <a:solidFill>
                  <a:srgbClr val="172B3A"/>
                </a:solidFill>
                <a:latin typeface="Arial"/>
                <a:ea typeface="Arial"/>
                <a:cs typeface="Arial"/>
              </a:rPr>
              <a:t>Requirement-level scoring against the signed-off M1 RTM</a:t>
            </a:r>
          </a:p>
        </p:txBody>
      </p:sp>
      <p:graphicFrame>
        <p:nvGraphicFramePr>
          <p:cNvPr id="7" name="Table 6">
            <a:extLst>
              <a:ext uri="{FF2B5EF4-FFF2-40B4-BE49-F238E27FC236}">
                <a16:creationId xmlns:a16="http://schemas.microsoft.com/office/drawing/2014/main" id="{1EDC6886-5BC4-4C1F-9950-758E8F0C93B3}"/>
              </a:ext>
            </a:extLst>
          </p:cNvPr>
          <p:cNvGraphicFramePr/>
          <p:nvPr/>
        </p:nvGraphicFramePr>
        <p:xfrm>
          <a:off x="723900" y="2095500"/>
          <a:ext cx="10668000" cy="2857500"/>
        </p:xfrm>
        <a:graphic>
          <a:graphicData uri="http://schemas.openxmlformats.org/drawingml/2006/table">
            <a:tbl>
              <a:tblPr/>
              <a:tblGrid>
                <a:gridCol w="20955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2381250">
                  <a:extLst>
                    <a:ext uri="{9D8B030D-6E8A-4147-A177-3AD203B41FA5}">
                      <a16:colId xmlns:a16="http://schemas.microsoft.com/office/drawing/2014/main" val="20003"/>
                    </a:ext>
                  </a:extLst>
                </a:gridCol>
              </a:tblGrid>
              <a:tr h="571500">
                <a:tc>
                  <a:txBody>
                    <a:bodyPr/>
                    <a:lstStyle/>
                    <a:p>
                      <a:r>
                        <a:rPr sz="1500" b="1">
                          <a:solidFill>
                            <a:srgbClr val="FFFFFF"/>
                          </a:solidFill>
                          <a:latin typeface="Arial"/>
                          <a:ea typeface="Arial"/>
                          <a:cs typeface="Arial"/>
                        </a:rPr>
                        <a:t>Status</a:t>
                      </a:r>
                    </a:p>
                  </a:txBody>
                  <a:tcPr>
                    <a:lnL w="9525">
                      <a:solidFill>
                        <a:srgbClr val="D4DDE5"/>
                      </a:solidFill>
                      <a:prstDash val="soli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tc>
                  <a:txBody>
                    <a:bodyPr/>
                    <a:lstStyle/>
                    <a:p>
                      <a:r>
                        <a:rPr sz="1500" b="1">
                          <a:solidFill>
                            <a:srgbClr val="FFFFFF"/>
                          </a:solidFill>
                          <a:latin typeface="Arial"/>
                          <a:ea typeface="Arial"/>
                          <a:cs typeface="Arial"/>
                        </a:rPr>
                        <a:t>Requirements</a:t>
                      </a:r>
                    </a:p>
                  </a:txBody>
                  <a:tcPr>
                    <a:lnL w="9525" cap="flat" cmpd="sng" algn="ctr">
                      <a:solidFill>
                        <a:srgbClr val="D4DDE5"/>
                      </a:solidFill>
                      <a:prstDash val="solid"/>
                      <a:round/>
                      <a:headEnd type="none" w="med" len="med"/>
                      <a:tailEnd type="none" w="med" len="me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tc>
                  <a:txBody>
                    <a:bodyPr/>
                    <a:lstStyle/>
                    <a:p>
                      <a:r>
                        <a:rPr sz="1500" b="1">
                          <a:solidFill>
                            <a:srgbClr val="FFFFFF"/>
                          </a:solidFill>
                          <a:latin typeface="Arial"/>
                          <a:ea typeface="Arial"/>
                          <a:cs typeface="Arial"/>
                        </a:rPr>
                        <a:t>Count</a:t>
                      </a:r>
                    </a:p>
                  </a:txBody>
                  <a:tcPr>
                    <a:lnL w="9525" cap="flat" cmpd="sng" algn="ctr">
                      <a:solidFill>
                        <a:srgbClr val="D4DDE5"/>
                      </a:solidFill>
                      <a:prstDash val="solid"/>
                      <a:round/>
                      <a:headEnd type="none" w="med" len="med"/>
                      <a:tailEnd type="none" w="med" len="me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tc>
                  <a:txBody>
                    <a:bodyPr/>
                    <a:lstStyle/>
                    <a:p>
                      <a:r>
                        <a:rPr sz="1500" b="1">
                          <a:solidFill>
                            <a:srgbClr val="FFFFFF"/>
                          </a:solidFill>
                          <a:latin typeface="Arial"/>
                          <a:ea typeface="Arial"/>
                          <a:cs typeface="Arial"/>
                        </a:rPr>
                        <a:t>Points</a:t>
                      </a:r>
                    </a:p>
                  </a:txBody>
                  <a:tcPr>
                    <a:lnL w="9525" cap="flat" cmpd="sng" algn="ctr">
                      <a:solidFill>
                        <a:srgbClr val="D4DDE5"/>
                      </a:solidFill>
                      <a:prstDash val="solid"/>
                      <a:round/>
                      <a:headEnd type="none" w="med" len="med"/>
                      <a:tailEnd type="none" w="med" len="me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extLst>
                  <a:ext uri="{0D108BD9-81ED-4DB2-BD59-A6C34878D82A}">
                    <a16:rowId xmlns:a16="http://schemas.microsoft.com/office/drawing/2014/main" val="10000"/>
                  </a:ext>
                </a:extLst>
              </a:tr>
              <a:tr h="571500">
                <a:tc>
                  <a:txBody>
                    <a:bodyPr/>
                    <a:lstStyle/>
                    <a:p>
                      <a:r>
                        <a:rPr sz="1350" b="0">
                          <a:solidFill>
                            <a:srgbClr val="172B3A"/>
                          </a:solidFill>
                          <a:latin typeface="Arial"/>
                          <a:ea typeface="Arial"/>
                          <a:cs typeface="Arial"/>
                        </a:rPr>
                        <a:t>Met</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FR-01 to FR-13; NFR-02</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14</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14.0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350" b="0">
                          <a:solidFill>
                            <a:srgbClr val="172B3A"/>
                          </a:solidFill>
                          <a:latin typeface="Arial"/>
                          <a:ea typeface="Arial"/>
                          <a:cs typeface="Arial"/>
                        </a:rPr>
                        <a:t>Partially met</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NFR-03, NFR-05, NFR-06, NFR-07</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4</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2.0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extLst>
                  <a:ext uri="{0D108BD9-81ED-4DB2-BD59-A6C34878D82A}">
                    <a16:rowId xmlns:a16="http://schemas.microsoft.com/office/drawing/2014/main" val="10002"/>
                  </a:ext>
                </a:extLst>
              </a:tr>
              <a:tr h="571500">
                <a:tc>
                  <a:txBody>
                    <a:bodyPr/>
                    <a:lstStyle/>
                    <a:p>
                      <a:r>
                        <a:rPr sz="1350" b="0">
                          <a:solidFill>
                            <a:srgbClr val="172B3A"/>
                          </a:solidFill>
                          <a:latin typeface="Arial"/>
                          <a:ea typeface="Arial"/>
                          <a:cs typeface="Arial"/>
                        </a:rPr>
                        <a:t>Not met</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NFR-01, NFR-04</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2</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0.0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extLst>
                  <a:ext uri="{0D108BD9-81ED-4DB2-BD59-A6C34878D82A}">
                    <a16:rowId xmlns:a16="http://schemas.microsoft.com/office/drawing/2014/main" val="10003"/>
                  </a:ext>
                </a:extLst>
              </a:tr>
              <a:tr h="571500">
                <a:tc>
                  <a:txBody>
                    <a:bodyPr/>
                    <a:lstStyle/>
                    <a:p>
                      <a:r>
                        <a:rPr sz="1350" b="1">
                          <a:solidFill>
                            <a:srgbClr val="172B3A"/>
                          </a:solidFill>
                          <a:latin typeface="Arial"/>
                          <a:ea typeface="Arial"/>
                          <a:cs typeface="Arial"/>
                        </a:rPr>
                        <a:t>Total</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E5F3F3"/>
                    </a:solidFill>
                  </a:tcPr>
                </a:tc>
                <a:tc>
                  <a:txBody>
                    <a:bodyPr/>
                    <a:lstStyle/>
                    <a:p>
                      <a:r>
                        <a:rPr sz="1350" b="1">
                          <a:solidFill>
                            <a:srgbClr val="172B3A"/>
                          </a:solidFill>
                          <a:latin typeface="Arial"/>
                          <a:ea typeface="Arial"/>
                          <a:cs typeface="Arial"/>
                        </a:rPr>
                        <a:t>20 acceptance-criteria entries</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E5F3F3"/>
                    </a:solidFill>
                  </a:tcPr>
                </a:tc>
                <a:tc>
                  <a:txBody>
                    <a:bodyPr/>
                    <a:lstStyle/>
                    <a:p>
                      <a:r>
                        <a:rPr sz="1350" b="1">
                          <a:solidFill>
                            <a:srgbClr val="172B3A"/>
                          </a:solidFill>
                          <a:latin typeface="Arial"/>
                          <a:ea typeface="Arial"/>
                          <a:cs typeface="Arial"/>
                        </a:rPr>
                        <a:t>20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E5F3F3"/>
                    </a:solidFill>
                  </a:tcPr>
                </a:tc>
                <a:tc>
                  <a:txBody>
                    <a:bodyPr/>
                    <a:lstStyle/>
                    <a:p>
                      <a:r>
                        <a:rPr sz="1350" b="1">
                          <a:solidFill>
                            <a:srgbClr val="172B3A"/>
                          </a:solidFill>
                          <a:latin typeface="Arial"/>
                          <a:ea typeface="Arial"/>
                          <a:cs typeface="Arial"/>
                        </a:rPr>
                        <a:t>16.0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E5F3F3"/>
                    </a:solidFill>
                  </a:tcPr>
                </a:tc>
                <a:extLst>
                  <a:ext uri="{0D108BD9-81ED-4DB2-BD59-A6C34878D82A}">
                    <a16:rowId xmlns:a16="http://schemas.microsoft.com/office/drawing/2014/main" val="10004"/>
                  </a:ext>
                </a:extLst>
              </a:tr>
            </a:tbl>
          </a:graphicData>
        </a:graphic>
      </p:graphicFrame>
      <p:sp>
        <p:nvSpPr>
          <p:cNvPr id="8" name="Rectangle 7">
            <a:extLst>
              <a:ext uri="{FF2B5EF4-FFF2-40B4-BE49-F238E27FC236}">
                <a16:creationId xmlns:a16="http://schemas.microsoft.com/office/drawing/2014/main" id="{968F4845-B672-4B47-9AA2-31F478B18430}"/>
              </a:ext>
            </a:extLst>
          </p:cNvPr>
          <p:cNvSpPr>
            <a:spLocks noGrp="1"/>
          </p:cNvSpPr>
          <p:nvPr/>
        </p:nvSpPr>
        <p:spPr>
          <a:xfrm>
            <a:off x="723900" y="5257800"/>
            <a:ext cx="4953000" cy="533400"/>
          </a:xfrm>
          <a:prstGeom prst="rect">
            <a:avLst/>
          </a:prstGeom>
          <a:noFill/>
          <a:ln w="0">
            <a:noFill/>
            <a:prstDash val="solid"/>
          </a:ln>
        </p:spPr>
        <p:txBody>
          <a:bodyPr>
            <a:normAutofit/>
          </a:bodyPr>
          <a:lstStyle>
            <a:defPPr>
              <a:defRPr sz="2550" b="1">
                <a:solidFill>
                  <a:srgbClr val="087E8B"/>
                </a:solidFill>
                <a:latin typeface="Arial"/>
                <a:ea typeface="Arial"/>
                <a:cs typeface="Arial"/>
              </a:defRPr>
            </a:defPPr>
            <a:lvl1pPr>
              <a:defRPr sz="2550" b="1">
                <a:solidFill>
                  <a:srgbClr val="087E8B"/>
                </a:solidFill>
                <a:latin typeface="Arial"/>
                <a:ea typeface="Arial"/>
                <a:cs typeface="Arial"/>
              </a:defRPr>
            </a:lvl1pPr>
            <a:lvl2pPr>
              <a:defRPr sz="2550" b="1">
                <a:solidFill>
                  <a:srgbClr val="087E8B"/>
                </a:solidFill>
                <a:latin typeface="Arial"/>
                <a:ea typeface="Arial"/>
                <a:cs typeface="Arial"/>
              </a:defRPr>
            </a:lvl2pPr>
            <a:lvl3pPr>
              <a:defRPr sz="2550" b="1">
                <a:solidFill>
                  <a:srgbClr val="087E8B"/>
                </a:solidFill>
                <a:latin typeface="Arial"/>
                <a:ea typeface="Arial"/>
                <a:cs typeface="Arial"/>
              </a:defRPr>
            </a:lvl3pPr>
            <a:lvl4pPr>
              <a:defRPr sz="2550" b="1">
                <a:solidFill>
                  <a:srgbClr val="087E8B"/>
                </a:solidFill>
                <a:latin typeface="Arial"/>
                <a:ea typeface="Arial"/>
                <a:cs typeface="Arial"/>
              </a:defRPr>
            </a:lvl4pPr>
            <a:lvl5pPr>
              <a:defRPr sz="2550" b="1">
                <a:solidFill>
                  <a:srgbClr val="087E8B"/>
                </a:solidFill>
                <a:latin typeface="Arial"/>
                <a:ea typeface="Arial"/>
                <a:cs typeface="Arial"/>
              </a:defRPr>
            </a:lvl5pPr>
            <a:lvl6pPr>
              <a:defRPr sz="2550" b="1">
                <a:solidFill>
                  <a:srgbClr val="087E8B"/>
                </a:solidFill>
                <a:latin typeface="Arial"/>
                <a:ea typeface="Arial"/>
                <a:cs typeface="Arial"/>
              </a:defRPr>
            </a:lvl6pPr>
            <a:lvl7pPr>
              <a:defRPr sz="2550" b="1">
                <a:solidFill>
                  <a:srgbClr val="087E8B"/>
                </a:solidFill>
                <a:latin typeface="Arial"/>
                <a:ea typeface="Arial"/>
                <a:cs typeface="Arial"/>
              </a:defRPr>
            </a:lvl7pPr>
            <a:lvl8pPr>
              <a:defRPr sz="2550" b="1">
                <a:solidFill>
                  <a:srgbClr val="087E8B"/>
                </a:solidFill>
                <a:latin typeface="Arial"/>
                <a:ea typeface="Arial"/>
                <a:cs typeface="Arial"/>
              </a:defRPr>
            </a:lvl8pPr>
            <a:lvl9pPr>
              <a:defRPr sz="2550" b="1">
                <a:solidFill>
                  <a:srgbClr val="087E8B"/>
                </a:solidFill>
                <a:latin typeface="Arial"/>
                <a:ea typeface="Arial"/>
                <a:cs typeface="Arial"/>
              </a:defRPr>
            </a:lvl9pPr>
          </a:lstStyle>
          <a:p>
            <a:pPr>
              <a:defRPr sz="2550" b="1">
                <a:solidFill>
                  <a:srgbClr val="087E8B"/>
                </a:solidFill>
                <a:latin typeface="Arial"/>
                <a:ea typeface="Arial"/>
                <a:cs typeface="Arial"/>
              </a:defRPr>
            </a:pPr>
            <a:r>
              <a:rPr sz="2550" b="1">
                <a:solidFill>
                  <a:srgbClr val="087E8B"/>
                </a:solidFill>
                <a:latin typeface="Arial"/>
                <a:ea typeface="Arial"/>
                <a:cs typeface="Arial"/>
              </a:rPr>
              <a:t>16.0 / 20 × 100 = 80%</a:t>
            </a:r>
          </a:p>
        </p:txBody>
      </p:sp>
      <p:sp>
        <p:nvSpPr>
          <p:cNvPr id="9" name="Rectangle 8">
            <a:extLst>
              <a:ext uri="{FF2B5EF4-FFF2-40B4-BE49-F238E27FC236}">
                <a16:creationId xmlns:a16="http://schemas.microsoft.com/office/drawing/2014/main" id="{E34DFBA7-16C0-4F12-9152-A6113F3223AE}"/>
              </a:ext>
            </a:extLst>
          </p:cNvPr>
          <p:cNvSpPr>
            <a:spLocks noGrp="1"/>
          </p:cNvSpPr>
          <p:nvPr/>
        </p:nvSpPr>
        <p:spPr>
          <a:xfrm>
            <a:off x="723900" y="5829300"/>
            <a:ext cx="10668000" cy="361950"/>
          </a:xfrm>
          <a:prstGeom prst="rect">
            <a:avLst/>
          </a:prstGeom>
          <a:noFill/>
          <a:ln w="0">
            <a:noFill/>
            <a:prstDash val="solid"/>
          </a:ln>
        </p:spPr>
        <p:txBody>
          <a:bodyPr>
            <a:normAutofit/>
          </a:bodyPr>
          <a:lstStyle>
            <a:defPPr>
              <a:defRPr sz="1350" b="0">
                <a:solidFill>
                  <a:srgbClr val="536575"/>
                </a:solidFill>
                <a:latin typeface="Arial"/>
                <a:ea typeface="Arial"/>
                <a:cs typeface="Arial"/>
              </a:defRPr>
            </a:defPPr>
            <a:lvl1pPr>
              <a:defRPr sz="1350" b="0">
                <a:solidFill>
                  <a:srgbClr val="536575"/>
                </a:solidFill>
                <a:latin typeface="Arial"/>
                <a:ea typeface="Arial"/>
                <a:cs typeface="Arial"/>
              </a:defRPr>
            </a:lvl1pPr>
            <a:lvl2pPr>
              <a:defRPr sz="1350" b="0">
                <a:solidFill>
                  <a:srgbClr val="536575"/>
                </a:solidFill>
                <a:latin typeface="Arial"/>
                <a:ea typeface="Arial"/>
                <a:cs typeface="Arial"/>
              </a:defRPr>
            </a:lvl2pPr>
            <a:lvl3pPr>
              <a:defRPr sz="1350" b="0">
                <a:solidFill>
                  <a:srgbClr val="536575"/>
                </a:solidFill>
                <a:latin typeface="Arial"/>
                <a:ea typeface="Arial"/>
                <a:cs typeface="Arial"/>
              </a:defRPr>
            </a:lvl3pPr>
            <a:lvl4pPr>
              <a:defRPr sz="1350" b="0">
                <a:solidFill>
                  <a:srgbClr val="536575"/>
                </a:solidFill>
                <a:latin typeface="Arial"/>
                <a:ea typeface="Arial"/>
                <a:cs typeface="Arial"/>
              </a:defRPr>
            </a:lvl4pPr>
            <a:lvl5pPr>
              <a:defRPr sz="1350" b="0">
                <a:solidFill>
                  <a:srgbClr val="536575"/>
                </a:solidFill>
                <a:latin typeface="Arial"/>
                <a:ea typeface="Arial"/>
                <a:cs typeface="Arial"/>
              </a:defRPr>
            </a:lvl5pPr>
            <a:lvl6pPr>
              <a:defRPr sz="1350" b="0">
                <a:solidFill>
                  <a:srgbClr val="536575"/>
                </a:solidFill>
                <a:latin typeface="Arial"/>
                <a:ea typeface="Arial"/>
                <a:cs typeface="Arial"/>
              </a:defRPr>
            </a:lvl6pPr>
            <a:lvl7pPr>
              <a:defRPr sz="1350" b="0">
                <a:solidFill>
                  <a:srgbClr val="536575"/>
                </a:solidFill>
                <a:latin typeface="Arial"/>
                <a:ea typeface="Arial"/>
                <a:cs typeface="Arial"/>
              </a:defRPr>
            </a:lvl7pPr>
            <a:lvl8pPr>
              <a:defRPr sz="1350" b="0">
                <a:solidFill>
                  <a:srgbClr val="536575"/>
                </a:solidFill>
                <a:latin typeface="Arial"/>
                <a:ea typeface="Arial"/>
                <a:cs typeface="Arial"/>
              </a:defRPr>
            </a:lvl8pPr>
            <a:lvl9pPr>
              <a:defRPr sz="1350" b="0">
                <a:solidFill>
                  <a:srgbClr val="536575"/>
                </a:solidFill>
                <a:latin typeface="Arial"/>
                <a:ea typeface="Arial"/>
                <a:cs typeface="Arial"/>
              </a:defRPr>
            </a:lvl9pPr>
          </a:lstStyle>
          <a:p>
            <a:pPr>
              <a:defRPr sz="1350" b="0">
                <a:solidFill>
                  <a:srgbClr val="536575"/>
                </a:solidFill>
                <a:latin typeface="Arial"/>
                <a:ea typeface="Arial"/>
                <a:cs typeface="Arial"/>
              </a:defRPr>
            </a:pPr>
            <a:r>
              <a:rPr sz="1350" b="0">
                <a:solidFill>
                  <a:srgbClr val="536575"/>
                </a:solidFill>
                <a:latin typeface="Arial"/>
                <a:ea typeface="Arial"/>
                <a:cs typeface="Arial"/>
              </a:rPr>
              <a:t>This reaches the M4 target. The percentage does not remove the need to explain unmet Must Have criteria.</a:t>
            </a:r>
          </a:p>
        </p:txBody>
      </p:sp>
    </p:spTree>
    <p:extLst>
      <p:ext uri="{BB962C8B-B14F-4D97-AF65-F5344CB8AC3E}">
        <p14:creationId xmlns:p14="http://schemas.microsoft.com/office/powerpoint/2010/main" val="534849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B4D8D3A-DFD6-451E-9C77-50463DED8E6D}"/>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925851D2-E339-40F6-A6E0-3008DDF1BA65}"/>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Final status of M1 requirements</a:t>
            </a:r>
          </a:p>
        </p:txBody>
      </p:sp>
      <p:sp>
        <p:nvSpPr>
          <p:cNvPr id="3" name="Rectangle 2">
            <a:extLst>
              <a:ext uri="{FF2B5EF4-FFF2-40B4-BE49-F238E27FC236}">
                <a16:creationId xmlns:a16="http://schemas.microsoft.com/office/drawing/2014/main" id="{57FD239D-6D7F-4FCC-B131-69FE5474BF34}"/>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FA5FAF06-906E-4678-A770-C100A355A45C}"/>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C22B45A3-F0D2-469B-974D-AC6D0E93DA26}"/>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06</a:t>
            </a:r>
          </a:p>
        </p:txBody>
      </p:sp>
      <p:sp>
        <p:nvSpPr>
          <p:cNvPr id="6" name="Rectangle 5">
            <a:extLst>
              <a:ext uri="{FF2B5EF4-FFF2-40B4-BE49-F238E27FC236}">
                <a16:creationId xmlns:a16="http://schemas.microsoft.com/office/drawing/2014/main" id="{14AD15F5-F836-4956-B69F-5205ED4FEED9}"/>
              </a:ext>
            </a:extLst>
          </p:cNvPr>
          <p:cNvSpPr>
            <a:spLocks noGrp="1"/>
          </p:cNvSpPr>
          <p:nvPr/>
        </p:nvSpPr>
        <p:spPr>
          <a:xfrm>
            <a:off x="742950" y="16954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7" name="Rectangle 6">
            <a:extLst>
              <a:ext uri="{FF2B5EF4-FFF2-40B4-BE49-F238E27FC236}">
                <a16:creationId xmlns:a16="http://schemas.microsoft.com/office/drawing/2014/main" id="{B7089D62-EBB8-4CC5-9BEC-550428FAD79C}"/>
              </a:ext>
            </a:extLst>
          </p:cNvPr>
          <p:cNvSpPr>
            <a:spLocks noGrp="1"/>
          </p:cNvSpPr>
          <p:nvPr/>
        </p:nvSpPr>
        <p:spPr>
          <a:xfrm>
            <a:off x="1371600" y="16954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Functional requirements</a:t>
            </a:r>
          </a:p>
        </p:txBody>
      </p:sp>
      <p:sp>
        <p:nvSpPr>
          <p:cNvPr id="8" name="Rectangle 7">
            <a:extLst>
              <a:ext uri="{FF2B5EF4-FFF2-40B4-BE49-F238E27FC236}">
                <a16:creationId xmlns:a16="http://schemas.microsoft.com/office/drawing/2014/main" id="{EB5A9DB7-9136-40C8-BE96-1B313142AACF}"/>
              </a:ext>
            </a:extLst>
          </p:cNvPr>
          <p:cNvSpPr>
            <a:spLocks noGrp="1"/>
          </p:cNvSpPr>
          <p:nvPr/>
        </p:nvSpPr>
        <p:spPr>
          <a:xfrm>
            <a:off x="1371600" y="20669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FR-01 to FR-13 are recorded as implemented for the exercised local application paths.</a:t>
            </a:r>
          </a:p>
        </p:txBody>
      </p:sp>
      <p:sp>
        <p:nvSpPr>
          <p:cNvPr id="9" name="Rectangle 8">
            <a:extLst>
              <a:ext uri="{FF2B5EF4-FFF2-40B4-BE49-F238E27FC236}">
                <a16:creationId xmlns:a16="http://schemas.microsoft.com/office/drawing/2014/main" id="{078BDE0C-EB53-4E97-8ADF-0BFEF3C4390A}"/>
              </a:ext>
            </a:extLst>
          </p:cNvPr>
          <p:cNvSpPr>
            <a:spLocks noGrp="1"/>
          </p:cNvSpPr>
          <p:nvPr/>
        </p:nvSpPr>
        <p:spPr>
          <a:xfrm>
            <a:off x="742950" y="28003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0" name="Rectangle 9">
            <a:extLst>
              <a:ext uri="{FF2B5EF4-FFF2-40B4-BE49-F238E27FC236}">
                <a16:creationId xmlns:a16="http://schemas.microsoft.com/office/drawing/2014/main" id="{A29E314A-C97F-4E78-9832-EB8855F0EBDF}"/>
              </a:ext>
            </a:extLst>
          </p:cNvPr>
          <p:cNvSpPr>
            <a:spLocks noGrp="1"/>
          </p:cNvSpPr>
          <p:nvPr/>
        </p:nvSpPr>
        <p:spPr>
          <a:xfrm>
            <a:off x="1371600" y="28003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Security</a:t>
            </a:r>
          </a:p>
        </p:txBody>
      </p:sp>
      <p:sp>
        <p:nvSpPr>
          <p:cNvPr id="11" name="Rectangle 10">
            <a:extLst>
              <a:ext uri="{FF2B5EF4-FFF2-40B4-BE49-F238E27FC236}">
                <a16:creationId xmlns:a16="http://schemas.microsoft.com/office/drawing/2014/main" id="{235612AA-8063-4345-96A9-A786A85B4179}"/>
              </a:ext>
            </a:extLst>
          </p:cNvPr>
          <p:cNvSpPr>
            <a:spLocks noGrp="1"/>
          </p:cNvSpPr>
          <p:nvPr/>
        </p:nvSpPr>
        <p:spPr>
          <a:xfrm>
            <a:off x="1371600" y="31718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NFR-02 role and ownership checks passed for recorded routes and test cases.</a:t>
            </a:r>
          </a:p>
        </p:txBody>
      </p:sp>
      <p:sp>
        <p:nvSpPr>
          <p:cNvPr id="12" name="Rectangle 11">
            <a:extLst>
              <a:ext uri="{FF2B5EF4-FFF2-40B4-BE49-F238E27FC236}">
                <a16:creationId xmlns:a16="http://schemas.microsoft.com/office/drawing/2014/main" id="{28C4E7F5-CA3B-4BFC-A59C-94E9589DCDDD}"/>
              </a:ext>
            </a:extLst>
          </p:cNvPr>
          <p:cNvSpPr>
            <a:spLocks noGrp="1"/>
          </p:cNvSpPr>
          <p:nvPr/>
        </p:nvSpPr>
        <p:spPr>
          <a:xfrm>
            <a:off x="742950" y="39052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3" name="Rectangle 12">
            <a:extLst>
              <a:ext uri="{FF2B5EF4-FFF2-40B4-BE49-F238E27FC236}">
                <a16:creationId xmlns:a16="http://schemas.microsoft.com/office/drawing/2014/main" id="{86439E8D-0D04-4346-858B-1DC1B203E655}"/>
              </a:ext>
            </a:extLst>
          </p:cNvPr>
          <p:cNvSpPr>
            <a:spLocks noGrp="1"/>
          </p:cNvSpPr>
          <p:nvPr/>
        </p:nvSpPr>
        <p:spPr>
          <a:xfrm>
            <a:off x="1371600" y="39052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Partial quality evidence</a:t>
            </a:r>
          </a:p>
        </p:txBody>
      </p:sp>
      <p:sp>
        <p:nvSpPr>
          <p:cNvPr id="14" name="Rectangle 13">
            <a:extLst>
              <a:ext uri="{FF2B5EF4-FFF2-40B4-BE49-F238E27FC236}">
                <a16:creationId xmlns:a16="http://schemas.microsoft.com/office/drawing/2014/main" id="{2BE55DA9-56CE-4D09-92C5-03594D7BE0DC}"/>
              </a:ext>
            </a:extLst>
          </p:cNvPr>
          <p:cNvSpPr>
            <a:spLocks noGrp="1"/>
          </p:cNvSpPr>
          <p:nvPr/>
        </p:nvSpPr>
        <p:spPr>
          <a:xfrm>
            <a:off x="1371600" y="42767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NFR-03, NFR-05, NFR-06 and NFR-07 have useful evidence, but at least one acceptance condition remains unverified or unmet.</a:t>
            </a:r>
          </a:p>
        </p:txBody>
      </p:sp>
      <p:sp>
        <p:nvSpPr>
          <p:cNvPr id="15" name="Rectangle 14">
            <a:extLst>
              <a:ext uri="{FF2B5EF4-FFF2-40B4-BE49-F238E27FC236}">
                <a16:creationId xmlns:a16="http://schemas.microsoft.com/office/drawing/2014/main" id="{6A7E57DC-2CD4-4AAE-83AB-B32AACEC4F69}"/>
              </a:ext>
            </a:extLst>
          </p:cNvPr>
          <p:cNvSpPr>
            <a:spLocks noGrp="1"/>
          </p:cNvSpPr>
          <p:nvPr/>
        </p:nvSpPr>
        <p:spPr>
          <a:xfrm>
            <a:off x="742950" y="50101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04</a:t>
            </a:r>
          </a:p>
        </p:txBody>
      </p:sp>
      <p:sp>
        <p:nvSpPr>
          <p:cNvPr id="16" name="Rectangle 15">
            <a:extLst>
              <a:ext uri="{FF2B5EF4-FFF2-40B4-BE49-F238E27FC236}">
                <a16:creationId xmlns:a16="http://schemas.microsoft.com/office/drawing/2014/main" id="{90750905-415A-46FA-A872-B473EEECB458}"/>
              </a:ext>
            </a:extLst>
          </p:cNvPr>
          <p:cNvSpPr>
            <a:spLocks noGrp="1"/>
          </p:cNvSpPr>
          <p:nvPr/>
        </p:nvSpPr>
        <p:spPr>
          <a:xfrm>
            <a:off x="1371600" y="50101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Unmet criteria</a:t>
            </a:r>
          </a:p>
        </p:txBody>
      </p:sp>
      <p:sp>
        <p:nvSpPr>
          <p:cNvPr id="17" name="Rectangle 16">
            <a:extLst>
              <a:ext uri="{FF2B5EF4-FFF2-40B4-BE49-F238E27FC236}">
                <a16:creationId xmlns:a16="http://schemas.microsoft.com/office/drawing/2014/main" id="{BF338FEC-F8BF-40D0-9107-26CFB3BA58F0}"/>
              </a:ext>
            </a:extLst>
          </p:cNvPr>
          <p:cNvSpPr>
            <a:spLocks noGrp="1"/>
          </p:cNvSpPr>
          <p:nvPr/>
        </p:nvSpPr>
        <p:spPr>
          <a:xfrm>
            <a:off x="1371600" y="53816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NFR-01 first-time-user study and NFR-04 availability probe are absent.</a:t>
            </a:r>
          </a:p>
        </p:txBody>
      </p:sp>
      <p:sp>
        <p:nvSpPr>
          <p:cNvPr id="18" name="Rectangle 17">
            <a:extLst>
              <a:ext uri="{FF2B5EF4-FFF2-40B4-BE49-F238E27FC236}">
                <a16:creationId xmlns:a16="http://schemas.microsoft.com/office/drawing/2014/main" id="{87A53F73-BBE1-4D72-AE32-FF6F2DF348B8}"/>
              </a:ext>
            </a:extLst>
          </p:cNvPr>
          <p:cNvSpPr>
            <a:spLocks noGrp="1"/>
          </p:cNvSpPr>
          <p:nvPr/>
        </p:nvSpPr>
        <p:spPr>
          <a:xfrm>
            <a:off x="723900" y="5962650"/>
            <a:ext cx="10477500" cy="266700"/>
          </a:xfrm>
          <a:prstGeom prst="rect">
            <a:avLst/>
          </a:prstGeom>
          <a:noFill/>
          <a:ln w="0">
            <a:noFill/>
            <a:prstDash val="solid"/>
          </a:ln>
        </p:spPr>
        <p:txBody>
          <a:bodyPr>
            <a:normAutofit fontScale="90196"/>
          </a:bodyPr>
          <a:lstStyle>
            <a:defPPr>
              <a:defRPr sz="1275" b="0">
                <a:solidFill>
                  <a:srgbClr val="536575"/>
                </a:solidFill>
                <a:latin typeface="Arial"/>
                <a:ea typeface="Arial"/>
                <a:cs typeface="Arial"/>
              </a:defRPr>
            </a:defPPr>
            <a:lvl1pPr>
              <a:defRPr sz="1275" b="0">
                <a:solidFill>
                  <a:srgbClr val="536575"/>
                </a:solidFill>
                <a:latin typeface="Arial"/>
                <a:ea typeface="Arial"/>
                <a:cs typeface="Arial"/>
              </a:defRPr>
            </a:lvl1pPr>
            <a:lvl2pPr>
              <a:defRPr sz="1275" b="0">
                <a:solidFill>
                  <a:srgbClr val="536575"/>
                </a:solidFill>
                <a:latin typeface="Arial"/>
                <a:ea typeface="Arial"/>
                <a:cs typeface="Arial"/>
              </a:defRPr>
            </a:lvl2pPr>
            <a:lvl3pPr>
              <a:defRPr sz="1275" b="0">
                <a:solidFill>
                  <a:srgbClr val="536575"/>
                </a:solidFill>
                <a:latin typeface="Arial"/>
                <a:ea typeface="Arial"/>
                <a:cs typeface="Arial"/>
              </a:defRPr>
            </a:lvl3pPr>
            <a:lvl4pPr>
              <a:defRPr sz="1275" b="0">
                <a:solidFill>
                  <a:srgbClr val="536575"/>
                </a:solidFill>
                <a:latin typeface="Arial"/>
                <a:ea typeface="Arial"/>
                <a:cs typeface="Arial"/>
              </a:defRPr>
            </a:lvl4pPr>
            <a:lvl5pPr>
              <a:defRPr sz="1275" b="0">
                <a:solidFill>
                  <a:srgbClr val="536575"/>
                </a:solidFill>
                <a:latin typeface="Arial"/>
                <a:ea typeface="Arial"/>
                <a:cs typeface="Arial"/>
              </a:defRPr>
            </a:lvl5pPr>
            <a:lvl6pPr>
              <a:defRPr sz="1275" b="0">
                <a:solidFill>
                  <a:srgbClr val="536575"/>
                </a:solidFill>
                <a:latin typeface="Arial"/>
                <a:ea typeface="Arial"/>
                <a:cs typeface="Arial"/>
              </a:defRPr>
            </a:lvl6pPr>
            <a:lvl7pPr>
              <a:defRPr sz="1275" b="0">
                <a:solidFill>
                  <a:srgbClr val="536575"/>
                </a:solidFill>
                <a:latin typeface="Arial"/>
                <a:ea typeface="Arial"/>
                <a:cs typeface="Arial"/>
              </a:defRPr>
            </a:lvl7pPr>
            <a:lvl8pPr>
              <a:defRPr sz="1275" b="0">
                <a:solidFill>
                  <a:srgbClr val="536575"/>
                </a:solidFill>
                <a:latin typeface="Arial"/>
                <a:ea typeface="Arial"/>
                <a:cs typeface="Arial"/>
              </a:defRPr>
            </a:lvl8pPr>
            <a:lvl9pPr>
              <a:defRPr sz="1275" b="0">
                <a:solidFill>
                  <a:srgbClr val="536575"/>
                </a:solidFill>
                <a:latin typeface="Arial"/>
                <a:ea typeface="Arial"/>
                <a:cs typeface="Arial"/>
              </a:defRPr>
            </a:lvl9pPr>
          </a:lstStyle>
          <a:p>
            <a:pPr>
              <a:defRPr sz="1275" b="0">
                <a:solidFill>
                  <a:srgbClr val="536575"/>
                </a:solidFill>
                <a:latin typeface="Arial"/>
                <a:ea typeface="Arial"/>
                <a:cs typeface="Arial"/>
              </a:defRPr>
            </a:pPr>
            <a:r>
              <a:rPr sz="1275" b="0">
                <a:solidFill>
                  <a:srgbClr val="536575"/>
                </a:solidFill>
                <a:latin typeface="Arial"/>
                <a:ea typeface="Arial"/>
                <a:cs typeface="Arial"/>
              </a:rPr>
              <a:t>Full criteria, references and limitations are listed in the final RTM.</a:t>
            </a:r>
          </a:p>
        </p:txBody>
      </p:sp>
    </p:spTree>
    <p:extLst>
      <p:ext uri="{BB962C8B-B14F-4D97-AF65-F5344CB8AC3E}">
        <p14:creationId xmlns:p14="http://schemas.microsoft.com/office/powerpoint/2010/main" val="1740713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980B901-74DE-4986-8714-77AF554DBAEB}"/>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FB886E8B-F16D-4DCE-A372-EFECD0AF87CA}"/>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Must Have usability criterion</a:t>
            </a:r>
          </a:p>
        </p:txBody>
      </p:sp>
      <p:sp>
        <p:nvSpPr>
          <p:cNvPr id="3" name="Rectangle 2">
            <a:extLst>
              <a:ext uri="{FF2B5EF4-FFF2-40B4-BE49-F238E27FC236}">
                <a16:creationId xmlns:a16="http://schemas.microsoft.com/office/drawing/2014/main" id="{C20151A6-1473-4C27-B575-72B398D51058}"/>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59CD19A4-01E7-4F71-8178-849DF715576B}"/>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B94D6CCA-DA33-4330-8649-DF7EB2436F9F}"/>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07</a:t>
            </a:r>
          </a:p>
        </p:txBody>
      </p:sp>
      <p:sp>
        <p:nvSpPr>
          <p:cNvPr id="6" name="Rectangle 5">
            <a:extLst>
              <a:ext uri="{FF2B5EF4-FFF2-40B4-BE49-F238E27FC236}">
                <a16:creationId xmlns:a16="http://schemas.microsoft.com/office/drawing/2014/main" id="{495237DA-3BBB-41AD-9EF7-728B7E64593B}"/>
              </a:ext>
            </a:extLst>
          </p:cNvPr>
          <p:cNvSpPr>
            <a:spLocks noGrp="1"/>
          </p:cNvSpPr>
          <p:nvPr/>
        </p:nvSpPr>
        <p:spPr>
          <a:xfrm>
            <a:off x="723900" y="1657350"/>
            <a:ext cx="10287000" cy="457200"/>
          </a:xfrm>
          <a:prstGeom prst="rect">
            <a:avLst/>
          </a:prstGeom>
          <a:noFill/>
          <a:ln w="0">
            <a:noFill/>
            <a:prstDash val="solid"/>
          </a:ln>
        </p:spPr>
        <p:txBody>
          <a:bodyPr>
            <a:normAutofit/>
          </a:bodyPr>
          <a:lstStyle>
            <a:defPPr>
              <a:defRPr sz="2250" b="1">
                <a:solidFill>
                  <a:srgbClr val="102A43"/>
                </a:solidFill>
                <a:latin typeface="Arial"/>
                <a:ea typeface="Arial"/>
                <a:cs typeface="Arial"/>
              </a:defRPr>
            </a:defPPr>
            <a:lvl1pPr>
              <a:defRPr sz="2250" b="1">
                <a:solidFill>
                  <a:srgbClr val="102A43"/>
                </a:solidFill>
                <a:latin typeface="Arial"/>
                <a:ea typeface="Arial"/>
                <a:cs typeface="Arial"/>
              </a:defRPr>
            </a:lvl1pPr>
            <a:lvl2pPr>
              <a:defRPr sz="2250" b="1">
                <a:solidFill>
                  <a:srgbClr val="102A43"/>
                </a:solidFill>
                <a:latin typeface="Arial"/>
                <a:ea typeface="Arial"/>
                <a:cs typeface="Arial"/>
              </a:defRPr>
            </a:lvl2pPr>
            <a:lvl3pPr>
              <a:defRPr sz="2250" b="1">
                <a:solidFill>
                  <a:srgbClr val="102A43"/>
                </a:solidFill>
                <a:latin typeface="Arial"/>
                <a:ea typeface="Arial"/>
                <a:cs typeface="Arial"/>
              </a:defRPr>
            </a:lvl3pPr>
            <a:lvl4pPr>
              <a:defRPr sz="2250" b="1">
                <a:solidFill>
                  <a:srgbClr val="102A43"/>
                </a:solidFill>
                <a:latin typeface="Arial"/>
                <a:ea typeface="Arial"/>
                <a:cs typeface="Arial"/>
              </a:defRPr>
            </a:lvl4pPr>
            <a:lvl5pPr>
              <a:defRPr sz="2250" b="1">
                <a:solidFill>
                  <a:srgbClr val="102A43"/>
                </a:solidFill>
                <a:latin typeface="Arial"/>
                <a:ea typeface="Arial"/>
                <a:cs typeface="Arial"/>
              </a:defRPr>
            </a:lvl5pPr>
            <a:lvl6pPr>
              <a:defRPr sz="2250" b="1">
                <a:solidFill>
                  <a:srgbClr val="102A43"/>
                </a:solidFill>
                <a:latin typeface="Arial"/>
                <a:ea typeface="Arial"/>
                <a:cs typeface="Arial"/>
              </a:defRPr>
            </a:lvl6pPr>
            <a:lvl7pPr>
              <a:defRPr sz="2250" b="1">
                <a:solidFill>
                  <a:srgbClr val="102A43"/>
                </a:solidFill>
                <a:latin typeface="Arial"/>
                <a:ea typeface="Arial"/>
                <a:cs typeface="Arial"/>
              </a:defRPr>
            </a:lvl7pPr>
            <a:lvl8pPr>
              <a:defRPr sz="2250" b="1">
                <a:solidFill>
                  <a:srgbClr val="102A43"/>
                </a:solidFill>
                <a:latin typeface="Arial"/>
                <a:ea typeface="Arial"/>
                <a:cs typeface="Arial"/>
              </a:defRPr>
            </a:lvl8pPr>
            <a:lvl9pPr>
              <a:defRPr sz="2250" b="1">
                <a:solidFill>
                  <a:srgbClr val="102A43"/>
                </a:solidFill>
                <a:latin typeface="Arial"/>
                <a:ea typeface="Arial"/>
                <a:cs typeface="Arial"/>
              </a:defRPr>
            </a:lvl9pPr>
          </a:lstStyle>
          <a:p>
            <a:pPr>
              <a:defRPr sz="2250" b="1">
                <a:solidFill>
                  <a:srgbClr val="102A43"/>
                </a:solidFill>
                <a:latin typeface="Arial"/>
                <a:ea typeface="Arial"/>
                <a:cs typeface="Arial"/>
              </a:defRPr>
            </a:pPr>
            <a:r>
              <a:rPr sz="2250" b="1">
                <a:solidFill>
                  <a:srgbClr val="102A43"/>
                </a:solidFill>
                <a:latin typeface="Arial"/>
                <a:ea typeface="Arial"/>
                <a:cs typeface="Arial"/>
              </a:rPr>
              <a:t>NFR-01 requires a first-time-user study.</a:t>
            </a:r>
          </a:p>
        </p:txBody>
      </p:sp>
      <p:sp>
        <p:nvSpPr>
          <p:cNvPr id="7" name="Rectangle 6">
            <a:extLst>
              <a:ext uri="{FF2B5EF4-FFF2-40B4-BE49-F238E27FC236}">
                <a16:creationId xmlns:a16="http://schemas.microsoft.com/office/drawing/2014/main" id="{3EE3D7D2-5D7B-468F-8A0C-AD0BAD4F39CD}"/>
              </a:ext>
            </a:extLst>
          </p:cNvPr>
          <p:cNvSpPr>
            <a:spLocks noGrp="1"/>
          </p:cNvSpPr>
          <p:nvPr/>
        </p:nvSpPr>
        <p:spPr>
          <a:xfrm>
            <a:off x="742950" y="25717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8" name="Rectangle 7">
            <a:extLst>
              <a:ext uri="{FF2B5EF4-FFF2-40B4-BE49-F238E27FC236}">
                <a16:creationId xmlns:a16="http://schemas.microsoft.com/office/drawing/2014/main" id="{39717C02-5FDC-4E51-88DB-3D4DA5A5AEE9}"/>
              </a:ext>
            </a:extLst>
          </p:cNvPr>
          <p:cNvSpPr>
            <a:spLocks noGrp="1"/>
          </p:cNvSpPr>
          <p:nvPr/>
        </p:nvSpPr>
        <p:spPr>
          <a:xfrm>
            <a:off x="1371600" y="25717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M1 target</a:t>
            </a:r>
          </a:p>
        </p:txBody>
      </p:sp>
      <p:sp>
        <p:nvSpPr>
          <p:cNvPr id="9" name="Rectangle 8">
            <a:extLst>
              <a:ext uri="{FF2B5EF4-FFF2-40B4-BE49-F238E27FC236}">
                <a16:creationId xmlns:a16="http://schemas.microsoft.com/office/drawing/2014/main" id="{9CC4D5B4-6021-489E-AD38-B216750D786B}"/>
              </a:ext>
            </a:extLst>
          </p:cNvPr>
          <p:cNvSpPr>
            <a:spLocks noGrp="1"/>
          </p:cNvSpPr>
          <p:nvPr/>
        </p:nvSpPr>
        <p:spPr>
          <a:xfrm>
            <a:off x="1371600" y="29432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At least four of five representative first-time users complete the same submission scenario within five minutes without assistance.</a:t>
            </a:r>
          </a:p>
        </p:txBody>
      </p:sp>
      <p:sp>
        <p:nvSpPr>
          <p:cNvPr id="10" name="Rectangle 9">
            <a:extLst>
              <a:ext uri="{FF2B5EF4-FFF2-40B4-BE49-F238E27FC236}">
                <a16:creationId xmlns:a16="http://schemas.microsoft.com/office/drawing/2014/main" id="{469DA4C9-013C-406E-856C-5A096B95BBD9}"/>
              </a:ext>
            </a:extLst>
          </p:cNvPr>
          <p:cNvSpPr>
            <a:spLocks noGrp="1"/>
          </p:cNvSpPr>
          <p:nvPr/>
        </p:nvSpPr>
        <p:spPr>
          <a:xfrm>
            <a:off x="742950" y="39052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1" name="Rectangle 10">
            <a:extLst>
              <a:ext uri="{FF2B5EF4-FFF2-40B4-BE49-F238E27FC236}">
                <a16:creationId xmlns:a16="http://schemas.microsoft.com/office/drawing/2014/main" id="{58132E5A-B63E-4E27-A096-51DF8E435CEA}"/>
              </a:ext>
            </a:extLst>
          </p:cNvPr>
          <p:cNvSpPr>
            <a:spLocks noGrp="1"/>
          </p:cNvSpPr>
          <p:nvPr/>
        </p:nvSpPr>
        <p:spPr>
          <a:xfrm>
            <a:off x="1371600" y="39052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Evidence status</a:t>
            </a:r>
          </a:p>
        </p:txBody>
      </p:sp>
      <p:sp>
        <p:nvSpPr>
          <p:cNvPr id="12" name="Rectangle 11">
            <a:extLst>
              <a:ext uri="{FF2B5EF4-FFF2-40B4-BE49-F238E27FC236}">
                <a16:creationId xmlns:a16="http://schemas.microsoft.com/office/drawing/2014/main" id="{4A5C70DD-CCFA-482C-8C49-72C04E7197E9}"/>
              </a:ext>
            </a:extLst>
          </p:cNvPr>
          <p:cNvSpPr>
            <a:spLocks noGrp="1"/>
          </p:cNvSpPr>
          <p:nvPr/>
        </p:nvSpPr>
        <p:spPr>
          <a:xfrm>
            <a:off x="1371600" y="42767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No participant times, errors or feedback are recorded in the controlled repository.</a:t>
            </a:r>
          </a:p>
        </p:txBody>
      </p:sp>
      <p:sp>
        <p:nvSpPr>
          <p:cNvPr id="13" name="Rectangle 12">
            <a:extLst>
              <a:ext uri="{FF2B5EF4-FFF2-40B4-BE49-F238E27FC236}">
                <a16:creationId xmlns:a16="http://schemas.microsoft.com/office/drawing/2014/main" id="{B1F25FF5-F8A2-438C-81AD-EA4BB10D1515}"/>
              </a:ext>
            </a:extLst>
          </p:cNvPr>
          <p:cNvSpPr>
            <a:spLocks noGrp="1"/>
          </p:cNvSpPr>
          <p:nvPr/>
        </p:nvSpPr>
        <p:spPr>
          <a:xfrm>
            <a:off x="723900" y="5219700"/>
            <a:ext cx="76200" cy="762000"/>
          </a:xfrm>
          <a:prstGeom prst="rect">
            <a:avLst/>
          </a:prstGeom>
          <a:solidFill>
            <a:srgbClr val="9D2A2A"/>
          </a:solidFill>
          <a:ln w="0">
            <a:noFill/>
            <a:prstDash val="solid"/>
          </a:ln>
        </p:spPr>
        <p:txBody>
          <a:bodyPr/>
          <a:lstStyle/>
          <a:p>
            <a:endParaRPr lang="en-ZA"/>
          </a:p>
        </p:txBody>
      </p:sp>
      <p:sp>
        <p:nvSpPr>
          <p:cNvPr id="14" name="Rectangle 13">
            <a:extLst>
              <a:ext uri="{FF2B5EF4-FFF2-40B4-BE49-F238E27FC236}">
                <a16:creationId xmlns:a16="http://schemas.microsoft.com/office/drawing/2014/main" id="{B88985E7-A36A-4AA7-8D39-54097A2558A6}"/>
              </a:ext>
            </a:extLst>
          </p:cNvPr>
          <p:cNvSpPr>
            <a:spLocks noGrp="1"/>
          </p:cNvSpPr>
          <p:nvPr/>
        </p:nvSpPr>
        <p:spPr>
          <a:xfrm>
            <a:off x="990600" y="5314950"/>
            <a:ext cx="10001250" cy="609600"/>
          </a:xfrm>
          <a:prstGeom prst="rect">
            <a:avLst/>
          </a:prstGeom>
          <a:noFill/>
          <a:ln w="0">
            <a:noFill/>
            <a:prstDash val="solid"/>
          </a:ln>
        </p:spPr>
        <p:txBody>
          <a:bodyPr>
            <a:normAutofit/>
          </a:bodyPr>
          <a:lstStyle>
            <a:defPPr>
              <a:defRPr sz="1650" b="1">
                <a:solidFill>
                  <a:srgbClr val="9D2A2A"/>
                </a:solidFill>
                <a:latin typeface="Arial"/>
                <a:ea typeface="Arial"/>
                <a:cs typeface="Arial"/>
              </a:defRPr>
            </a:defPPr>
            <a:lvl1pPr>
              <a:defRPr sz="1650" b="1">
                <a:solidFill>
                  <a:srgbClr val="9D2A2A"/>
                </a:solidFill>
                <a:latin typeface="Arial"/>
                <a:ea typeface="Arial"/>
                <a:cs typeface="Arial"/>
              </a:defRPr>
            </a:lvl1pPr>
            <a:lvl2pPr>
              <a:defRPr sz="1650" b="1">
                <a:solidFill>
                  <a:srgbClr val="9D2A2A"/>
                </a:solidFill>
                <a:latin typeface="Arial"/>
                <a:ea typeface="Arial"/>
                <a:cs typeface="Arial"/>
              </a:defRPr>
            </a:lvl2pPr>
            <a:lvl3pPr>
              <a:defRPr sz="1650" b="1">
                <a:solidFill>
                  <a:srgbClr val="9D2A2A"/>
                </a:solidFill>
                <a:latin typeface="Arial"/>
                <a:ea typeface="Arial"/>
                <a:cs typeface="Arial"/>
              </a:defRPr>
            </a:lvl3pPr>
            <a:lvl4pPr>
              <a:defRPr sz="1650" b="1">
                <a:solidFill>
                  <a:srgbClr val="9D2A2A"/>
                </a:solidFill>
                <a:latin typeface="Arial"/>
                <a:ea typeface="Arial"/>
                <a:cs typeface="Arial"/>
              </a:defRPr>
            </a:lvl4pPr>
            <a:lvl5pPr>
              <a:defRPr sz="1650" b="1">
                <a:solidFill>
                  <a:srgbClr val="9D2A2A"/>
                </a:solidFill>
                <a:latin typeface="Arial"/>
                <a:ea typeface="Arial"/>
                <a:cs typeface="Arial"/>
              </a:defRPr>
            </a:lvl5pPr>
            <a:lvl6pPr>
              <a:defRPr sz="1650" b="1">
                <a:solidFill>
                  <a:srgbClr val="9D2A2A"/>
                </a:solidFill>
                <a:latin typeface="Arial"/>
                <a:ea typeface="Arial"/>
                <a:cs typeface="Arial"/>
              </a:defRPr>
            </a:lvl6pPr>
            <a:lvl7pPr>
              <a:defRPr sz="1650" b="1">
                <a:solidFill>
                  <a:srgbClr val="9D2A2A"/>
                </a:solidFill>
                <a:latin typeface="Arial"/>
                <a:ea typeface="Arial"/>
                <a:cs typeface="Arial"/>
              </a:defRPr>
            </a:lvl7pPr>
            <a:lvl8pPr>
              <a:defRPr sz="1650" b="1">
                <a:solidFill>
                  <a:srgbClr val="9D2A2A"/>
                </a:solidFill>
                <a:latin typeface="Arial"/>
                <a:ea typeface="Arial"/>
                <a:cs typeface="Arial"/>
              </a:defRPr>
            </a:lvl8pPr>
            <a:lvl9pPr>
              <a:defRPr sz="1650" b="1">
                <a:solidFill>
                  <a:srgbClr val="9D2A2A"/>
                </a:solidFill>
                <a:latin typeface="Arial"/>
                <a:ea typeface="Arial"/>
                <a:cs typeface="Arial"/>
              </a:defRPr>
            </a:lvl9pPr>
          </a:lstStyle>
          <a:p>
            <a:pPr>
              <a:defRPr sz="1650" b="1">
                <a:solidFill>
                  <a:srgbClr val="9D2A2A"/>
                </a:solidFill>
                <a:latin typeface="Arial"/>
                <a:ea typeface="Arial"/>
                <a:cs typeface="Arial"/>
              </a:defRPr>
            </a:pPr>
            <a:r>
              <a:rPr sz="1650" b="1">
                <a:solidFill>
                  <a:srgbClr val="9D2A2A"/>
                </a:solidFill>
                <a:latin typeface="Arial"/>
                <a:ea typeface="Arial"/>
                <a:cs typeface="Arial"/>
              </a:rPr>
              <a:t>Final status: NOT MET. The study gap limits evidence about first-time citizen usability.</a:t>
            </a:r>
          </a:p>
        </p:txBody>
      </p:sp>
    </p:spTree>
    <p:extLst>
      <p:ext uri="{BB962C8B-B14F-4D97-AF65-F5344CB8AC3E}">
        <p14:creationId xmlns:p14="http://schemas.microsoft.com/office/powerpoint/2010/main" val="382503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C36657E-1C10-41E5-AEF5-9D332DFDF4D4}"/>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D2DADDA5-3628-4190-864B-39CF2508B14C}"/>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Integrated website load profile</a:t>
            </a:r>
          </a:p>
        </p:txBody>
      </p:sp>
      <p:sp>
        <p:nvSpPr>
          <p:cNvPr id="3" name="Rectangle 2">
            <a:extLst>
              <a:ext uri="{FF2B5EF4-FFF2-40B4-BE49-F238E27FC236}">
                <a16:creationId xmlns:a16="http://schemas.microsoft.com/office/drawing/2014/main" id="{7137E99C-8513-400E-ACCD-5AA02AB65899}"/>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89364092-93A4-43E0-AA86-A0881D9E2E59}"/>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EE840EB5-CCBA-4937-9C2A-9995B27C00EF}"/>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08</a:t>
            </a:r>
          </a:p>
        </p:txBody>
      </p:sp>
      <p:sp>
        <p:nvSpPr>
          <p:cNvPr id="6" name="Rectangle 5">
            <a:extLst>
              <a:ext uri="{FF2B5EF4-FFF2-40B4-BE49-F238E27FC236}">
                <a16:creationId xmlns:a16="http://schemas.microsoft.com/office/drawing/2014/main" id="{ECB5085D-E7AD-481F-8EE1-1E29401D5107}"/>
              </a:ext>
            </a:extLst>
          </p:cNvPr>
          <p:cNvSpPr>
            <a:spLocks noGrp="1"/>
          </p:cNvSpPr>
          <p:nvPr/>
        </p:nvSpPr>
        <p:spPr>
          <a:xfrm>
            <a:off x="723900" y="1485900"/>
            <a:ext cx="10668000" cy="400050"/>
          </a:xfrm>
          <a:prstGeom prst="rect">
            <a:avLst/>
          </a:prstGeom>
          <a:noFill/>
          <a:ln w="0">
            <a:noFill/>
            <a:prstDash val="solid"/>
          </a:ln>
        </p:spPr>
        <p:txBody>
          <a:bodyPr>
            <a:normAutofit/>
          </a:bodyPr>
          <a:lstStyle>
            <a:defPPr>
              <a:defRPr sz="1650" b="1">
                <a:solidFill>
                  <a:srgbClr val="172B3A"/>
                </a:solidFill>
                <a:latin typeface="Arial"/>
                <a:ea typeface="Arial"/>
                <a:cs typeface="Arial"/>
              </a:defRPr>
            </a:defPPr>
            <a:lvl1pPr>
              <a:defRPr sz="1650" b="1">
                <a:solidFill>
                  <a:srgbClr val="172B3A"/>
                </a:solidFill>
                <a:latin typeface="Arial"/>
                <a:ea typeface="Arial"/>
                <a:cs typeface="Arial"/>
              </a:defRPr>
            </a:lvl1pPr>
            <a:lvl2pPr>
              <a:defRPr sz="1650" b="1">
                <a:solidFill>
                  <a:srgbClr val="172B3A"/>
                </a:solidFill>
                <a:latin typeface="Arial"/>
                <a:ea typeface="Arial"/>
                <a:cs typeface="Arial"/>
              </a:defRPr>
            </a:lvl2pPr>
            <a:lvl3pPr>
              <a:defRPr sz="1650" b="1">
                <a:solidFill>
                  <a:srgbClr val="172B3A"/>
                </a:solidFill>
                <a:latin typeface="Arial"/>
                <a:ea typeface="Arial"/>
                <a:cs typeface="Arial"/>
              </a:defRPr>
            </a:lvl3pPr>
            <a:lvl4pPr>
              <a:defRPr sz="1650" b="1">
                <a:solidFill>
                  <a:srgbClr val="172B3A"/>
                </a:solidFill>
                <a:latin typeface="Arial"/>
                <a:ea typeface="Arial"/>
                <a:cs typeface="Arial"/>
              </a:defRPr>
            </a:lvl4pPr>
            <a:lvl5pPr>
              <a:defRPr sz="1650" b="1">
                <a:solidFill>
                  <a:srgbClr val="172B3A"/>
                </a:solidFill>
                <a:latin typeface="Arial"/>
                <a:ea typeface="Arial"/>
                <a:cs typeface="Arial"/>
              </a:defRPr>
            </a:lvl5pPr>
            <a:lvl6pPr>
              <a:defRPr sz="1650" b="1">
                <a:solidFill>
                  <a:srgbClr val="172B3A"/>
                </a:solidFill>
                <a:latin typeface="Arial"/>
                <a:ea typeface="Arial"/>
                <a:cs typeface="Arial"/>
              </a:defRPr>
            </a:lvl6pPr>
            <a:lvl7pPr>
              <a:defRPr sz="1650" b="1">
                <a:solidFill>
                  <a:srgbClr val="172B3A"/>
                </a:solidFill>
                <a:latin typeface="Arial"/>
                <a:ea typeface="Arial"/>
                <a:cs typeface="Arial"/>
              </a:defRPr>
            </a:lvl7pPr>
            <a:lvl8pPr>
              <a:defRPr sz="1650" b="1">
                <a:solidFill>
                  <a:srgbClr val="172B3A"/>
                </a:solidFill>
                <a:latin typeface="Arial"/>
                <a:ea typeface="Arial"/>
                <a:cs typeface="Arial"/>
              </a:defRPr>
            </a:lvl8pPr>
            <a:lvl9pPr>
              <a:defRPr sz="1650" b="1">
                <a:solidFill>
                  <a:srgbClr val="172B3A"/>
                </a:solidFill>
                <a:latin typeface="Arial"/>
                <a:ea typeface="Arial"/>
                <a:cs typeface="Arial"/>
              </a:defRPr>
            </a:lvl9pPr>
          </a:lstStyle>
          <a:p>
            <a:pPr>
              <a:defRPr sz="1650" b="1">
                <a:solidFill>
                  <a:srgbClr val="172B3A"/>
                </a:solidFill>
                <a:latin typeface="Arial"/>
                <a:ea typeface="Arial"/>
                <a:cs typeface="Arial"/>
              </a:defRPr>
            </a:pPr>
            <a:r>
              <a:rPr sz="1650" b="1">
                <a:solidFill>
                  <a:srgbClr val="172B3A"/>
                </a:solidFill>
                <a:latin typeface="Arial"/>
                <a:ea typeface="Arial"/>
                <a:cs typeface="Arial"/>
              </a:rPr>
              <a:t>50 authenticated users | 10,000 synthetic requests | 6,000 measured requests</a:t>
            </a:r>
          </a:p>
        </p:txBody>
      </p:sp>
      <p:graphicFrame>
        <p:nvGraphicFramePr>
          <p:cNvPr id="7" name="Table 6">
            <a:extLst>
              <a:ext uri="{FF2B5EF4-FFF2-40B4-BE49-F238E27FC236}">
                <a16:creationId xmlns:a16="http://schemas.microsoft.com/office/drawing/2014/main" id="{57882712-0129-44D6-A75B-14EC96A0A829}"/>
              </a:ext>
            </a:extLst>
          </p:cNvPr>
          <p:cNvGraphicFramePr/>
          <p:nvPr/>
        </p:nvGraphicFramePr>
        <p:xfrm>
          <a:off x="723900" y="2209800"/>
          <a:ext cx="10668000" cy="2400300"/>
        </p:xfrm>
        <a:graphic>
          <a:graphicData uri="http://schemas.openxmlformats.org/drawingml/2006/table">
            <a:tbl>
              <a:tblPr/>
              <a:tblGrid>
                <a:gridCol w="24765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600075">
                <a:tc>
                  <a:txBody>
                    <a:bodyPr/>
                    <a:lstStyle/>
                    <a:p>
                      <a:r>
                        <a:rPr sz="1425" b="1">
                          <a:solidFill>
                            <a:srgbClr val="FFFFFF"/>
                          </a:solidFill>
                          <a:latin typeface="Arial"/>
                          <a:ea typeface="Arial"/>
                          <a:cs typeface="Arial"/>
                        </a:rPr>
                        <a:t>Measure</a:t>
                      </a:r>
                    </a:p>
                  </a:txBody>
                  <a:tcPr>
                    <a:lnL w="9525">
                      <a:solidFill>
                        <a:srgbClr val="D4DDE5"/>
                      </a:solidFill>
                      <a:prstDash val="soli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tc>
                  <a:txBody>
                    <a:bodyPr/>
                    <a:lstStyle/>
                    <a:p>
                      <a:r>
                        <a:rPr sz="1425" b="1">
                          <a:solidFill>
                            <a:srgbClr val="FFFFFF"/>
                          </a:solidFill>
                          <a:latin typeface="Arial"/>
                          <a:ea typeface="Arial"/>
                          <a:cs typeface="Arial"/>
                        </a:rPr>
                        <a:t>M1 target</a:t>
                      </a:r>
                    </a:p>
                  </a:txBody>
                  <a:tcPr>
                    <a:lnL w="9525" cap="flat" cmpd="sng" algn="ctr">
                      <a:solidFill>
                        <a:srgbClr val="D4DDE5"/>
                      </a:solidFill>
                      <a:prstDash val="solid"/>
                      <a:round/>
                      <a:headEnd type="none" w="med" len="med"/>
                      <a:tailEnd type="none" w="med" len="me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tc>
                  <a:txBody>
                    <a:bodyPr/>
                    <a:lstStyle/>
                    <a:p>
                      <a:r>
                        <a:rPr sz="1425" b="1">
                          <a:solidFill>
                            <a:srgbClr val="FFFFFF"/>
                          </a:solidFill>
                          <a:latin typeface="Arial"/>
                          <a:ea typeface="Arial"/>
                          <a:cs typeface="Arial"/>
                        </a:rPr>
                        <a:t>Observed</a:t>
                      </a:r>
                    </a:p>
                  </a:txBody>
                  <a:tcPr>
                    <a:lnL w="9525" cap="flat" cmpd="sng" algn="ctr">
                      <a:solidFill>
                        <a:srgbClr val="D4DDE5"/>
                      </a:solidFill>
                      <a:prstDash val="solid"/>
                      <a:round/>
                      <a:headEnd type="none" w="med" len="med"/>
                      <a:tailEnd type="none" w="med" len="me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tc>
                  <a:txBody>
                    <a:bodyPr/>
                    <a:lstStyle/>
                    <a:p>
                      <a:r>
                        <a:rPr sz="1425" b="1">
                          <a:solidFill>
                            <a:srgbClr val="FFFFFF"/>
                          </a:solidFill>
                          <a:latin typeface="Arial"/>
                          <a:ea typeface="Arial"/>
                          <a:cs typeface="Arial"/>
                        </a:rPr>
                        <a:t>Result</a:t>
                      </a:r>
                    </a:p>
                  </a:txBody>
                  <a:tcPr>
                    <a:lnL w="9525" cap="flat" cmpd="sng" algn="ctr">
                      <a:solidFill>
                        <a:srgbClr val="D4DDE5"/>
                      </a:solidFill>
                      <a:prstDash val="solid"/>
                      <a:round/>
                      <a:headEnd type="none" w="med" len="med"/>
                      <a:tailEnd type="none" w="med" len="med"/>
                    </a:lnL>
                    <a:lnR w="9525">
                      <a:solidFill>
                        <a:srgbClr val="D4DDE5"/>
                      </a:solidFill>
                      <a:prstDash val="solid"/>
                    </a:lnR>
                    <a:lnT w="9525">
                      <a:solidFill>
                        <a:srgbClr val="D4DDE5"/>
                      </a:solidFill>
                      <a:prstDash val="solid"/>
                    </a:lnT>
                    <a:lnB w="9525">
                      <a:solidFill>
                        <a:srgbClr val="D4DDE5"/>
                      </a:solidFill>
                      <a:prstDash val="solid"/>
                    </a:lnB>
                    <a:solidFill>
                      <a:srgbClr val="102A43"/>
                    </a:solidFill>
                  </a:tcPr>
                </a:tc>
                <a:extLst>
                  <a:ext uri="{0D108BD9-81ED-4DB2-BD59-A6C34878D82A}">
                    <a16:rowId xmlns:a16="http://schemas.microsoft.com/office/drawing/2014/main" val="10000"/>
                  </a:ext>
                </a:extLst>
              </a:tr>
              <a:tr h="600075">
                <a:tc>
                  <a:txBody>
                    <a:bodyPr/>
                    <a:lstStyle/>
                    <a:p>
                      <a:r>
                        <a:rPr sz="1350" b="0">
                          <a:solidFill>
                            <a:srgbClr val="172B3A"/>
                          </a:solidFill>
                          <a:latin typeface="Arial"/>
                          <a:ea typeface="Arial"/>
                          <a:cs typeface="Arial"/>
                        </a:rPr>
                        <a:t>p95 latency</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 3,000 ms</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1,051.639 ms</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PASS</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350" b="1">
                          <a:solidFill>
                            <a:srgbClr val="9D2A2A"/>
                          </a:solidFill>
                          <a:latin typeface="Arial"/>
                          <a:ea typeface="Arial"/>
                          <a:cs typeface="Arial"/>
                        </a:rPr>
                        <a:t>Request failures</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BEAEA"/>
                    </a:solidFill>
                  </a:tcPr>
                </a:tc>
                <a:tc>
                  <a:txBody>
                    <a:bodyPr/>
                    <a:lstStyle/>
                    <a:p>
                      <a:r>
                        <a:rPr sz="1350" b="1">
                          <a:solidFill>
                            <a:srgbClr val="9D2A2A"/>
                          </a:solidFill>
                          <a:latin typeface="Arial"/>
                          <a:ea typeface="Arial"/>
                          <a:cs typeface="Arial"/>
                        </a:rPr>
                        <a:t>&lt; 1%</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BEAEA"/>
                    </a:solidFill>
                  </a:tcPr>
                </a:tc>
                <a:tc>
                  <a:txBody>
                    <a:bodyPr/>
                    <a:lstStyle/>
                    <a:p>
                      <a:r>
                        <a:rPr sz="1350" b="1">
                          <a:solidFill>
                            <a:srgbClr val="9D2A2A"/>
                          </a:solidFill>
                          <a:latin typeface="Arial"/>
                          <a:ea typeface="Arial"/>
                          <a:cs typeface="Arial"/>
                        </a:rPr>
                        <a:t>647 / 6,000 = 10.78333%</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BEAEA"/>
                    </a:solidFill>
                  </a:tcPr>
                </a:tc>
                <a:tc>
                  <a:txBody>
                    <a:bodyPr/>
                    <a:lstStyle/>
                    <a:p>
                      <a:r>
                        <a:rPr sz="1350" b="1">
                          <a:solidFill>
                            <a:srgbClr val="9D2A2A"/>
                          </a:solidFill>
                          <a:latin typeface="Arial"/>
                          <a:ea typeface="Arial"/>
                          <a:cs typeface="Arial"/>
                        </a:rPr>
                        <a:t>FAIL</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BEAEA"/>
                    </a:solidFill>
                  </a:tcPr>
                </a:tc>
                <a:extLst>
                  <a:ext uri="{0D108BD9-81ED-4DB2-BD59-A6C34878D82A}">
                    <a16:rowId xmlns:a16="http://schemas.microsoft.com/office/drawing/2014/main" val="10002"/>
                  </a:ext>
                </a:extLst>
              </a:tr>
              <a:tr h="600075">
                <a:tc>
                  <a:txBody>
                    <a:bodyPr/>
                    <a:lstStyle/>
                    <a:p>
                      <a:r>
                        <a:rPr sz="1350" b="0">
                          <a:solidFill>
                            <a:srgbClr val="172B3A"/>
                          </a:solidFill>
                          <a:latin typeface="Arial"/>
                          <a:ea typeface="Arial"/>
                          <a:cs typeface="Arial"/>
                        </a:rPr>
                        <a:t>Measurement samples</a:t>
                      </a:r>
                    </a:p>
                  </a:txBody>
                  <a:tcPr>
                    <a:lnL w="9525">
                      <a:solidFill>
                        <a:srgbClr val="D4DDE5"/>
                      </a:solidFill>
                      <a:prstDash val="soli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6,000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6,000</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tc>
                  <a:txBody>
                    <a:bodyPr/>
                    <a:lstStyle/>
                    <a:p>
                      <a:r>
                        <a:rPr sz="1350" b="0">
                          <a:solidFill>
                            <a:srgbClr val="172B3A"/>
                          </a:solidFill>
                          <a:latin typeface="Arial"/>
                          <a:ea typeface="Arial"/>
                          <a:cs typeface="Arial"/>
                        </a:rPr>
                        <a:t>PASS</a:t>
                      </a:r>
                    </a:p>
                  </a:txBody>
                  <a:tcPr>
                    <a:lnL w="9525" cap="flat" cmpd="sng" algn="ctr">
                      <a:solidFill>
                        <a:srgbClr val="D4DDE5"/>
                      </a:solidFill>
                      <a:prstDash val="solid"/>
                      <a:round/>
                      <a:headEnd type="none" w="med" len="med"/>
                      <a:tailEnd type="none" w="med" len="med"/>
                    </a:lnL>
                    <a:lnR w="9525">
                      <a:solidFill>
                        <a:srgbClr val="D4DDE5"/>
                      </a:solidFill>
                      <a:prstDash val="solid"/>
                    </a:lnR>
                    <a:lnT w="9525" cap="flat" cmpd="sng" algn="ctr">
                      <a:solidFill>
                        <a:srgbClr val="D4DDE5"/>
                      </a:solidFill>
                      <a:prstDash val="solid"/>
                      <a:round/>
                      <a:headEnd type="none" w="med" len="med"/>
                      <a:tailEnd type="none" w="med" len="med"/>
                    </a:lnT>
                    <a:lnB w="9525">
                      <a:solidFill>
                        <a:srgbClr val="D4DDE5"/>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Rectangle 7">
            <a:extLst>
              <a:ext uri="{FF2B5EF4-FFF2-40B4-BE49-F238E27FC236}">
                <a16:creationId xmlns:a16="http://schemas.microsoft.com/office/drawing/2014/main" id="{2E4A76BA-61EB-45D4-964C-47FD6F02CBB6}"/>
              </a:ext>
            </a:extLst>
          </p:cNvPr>
          <p:cNvSpPr>
            <a:spLocks noGrp="1"/>
          </p:cNvSpPr>
          <p:nvPr/>
        </p:nvSpPr>
        <p:spPr>
          <a:xfrm>
            <a:off x="723900" y="5029200"/>
            <a:ext cx="10668000" cy="571500"/>
          </a:xfrm>
          <a:prstGeom prst="rect">
            <a:avLst/>
          </a:prstGeom>
          <a:noFill/>
          <a:ln w="0">
            <a:noFill/>
            <a:prstDash val="solid"/>
          </a:ln>
        </p:spPr>
        <p:txBody>
          <a:bodyPr>
            <a:normAutofit/>
          </a:bodyPr>
          <a:lstStyle>
            <a:defPPr>
              <a:defRPr sz="1650" b="1">
                <a:solidFill>
                  <a:srgbClr val="9D2A2A"/>
                </a:solidFill>
                <a:latin typeface="Arial"/>
                <a:ea typeface="Arial"/>
                <a:cs typeface="Arial"/>
              </a:defRPr>
            </a:defPPr>
            <a:lvl1pPr>
              <a:defRPr sz="1650" b="1">
                <a:solidFill>
                  <a:srgbClr val="9D2A2A"/>
                </a:solidFill>
                <a:latin typeface="Arial"/>
                <a:ea typeface="Arial"/>
                <a:cs typeface="Arial"/>
              </a:defRPr>
            </a:lvl1pPr>
            <a:lvl2pPr>
              <a:defRPr sz="1650" b="1">
                <a:solidFill>
                  <a:srgbClr val="9D2A2A"/>
                </a:solidFill>
                <a:latin typeface="Arial"/>
                <a:ea typeface="Arial"/>
                <a:cs typeface="Arial"/>
              </a:defRPr>
            </a:lvl2pPr>
            <a:lvl3pPr>
              <a:defRPr sz="1650" b="1">
                <a:solidFill>
                  <a:srgbClr val="9D2A2A"/>
                </a:solidFill>
                <a:latin typeface="Arial"/>
                <a:ea typeface="Arial"/>
                <a:cs typeface="Arial"/>
              </a:defRPr>
            </a:lvl3pPr>
            <a:lvl4pPr>
              <a:defRPr sz="1650" b="1">
                <a:solidFill>
                  <a:srgbClr val="9D2A2A"/>
                </a:solidFill>
                <a:latin typeface="Arial"/>
                <a:ea typeface="Arial"/>
                <a:cs typeface="Arial"/>
              </a:defRPr>
            </a:lvl4pPr>
            <a:lvl5pPr>
              <a:defRPr sz="1650" b="1">
                <a:solidFill>
                  <a:srgbClr val="9D2A2A"/>
                </a:solidFill>
                <a:latin typeface="Arial"/>
                <a:ea typeface="Arial"/>
                <a:cs typeface="Arial"/>
              </a:defRPr>
            </a:lvl5pPr>
            <a:lvl6pPr>
              <a:defRPr sz="1650" b="1">
                <a:solidFill>
                  <a:srgbClr val="9D2A2A"/>
                </a:solidFill>
                <a:latin typeface="Arial"/>
                <a:ea typeface="Arial"/>
                <a:cs typeface="Arial"/>
              </a:defRPr>
            </a:lvl6pPr>
            <a:lvl7pPr>
              <a:defRPr sz="1650" b="1">
                <a:solidFill>
                  <a:srgbClr val="9D2A2A"/>
                </a:solidFill>
                <a:latin typeface="Arial"/>
                <a:ea typeface="Arial"/>
                <a:cs typeface="Arial"/>
              </a:defRPr>
            </a:lvl7pPr>
            <a:lvl8pPr>
              <a:defRPr sz="1650" b="1">
                <a:solidFill>
                  <a:srgbClr val="9D2A2A"/>
                </a:solidFill>
                <a:latin typeface="Arial"/>
                <a:ea typeface="Arial"/>
                <a:cs typeface="Arial"/>
              </a:defRPr>
            </a:lvl8pPr>
            <a:lvl9pPr>
              <a:defRPr sz="1650" b="1">
                <a:solidFill>
                  <a:srgbClr val="9D2A2A"/>
                </a:solidFill>
                <a:latin typeface="Arial"/>
                <a:ea typeface="Arial"/>
                <a:cs typeface="Arial"/>
              </a:defRPr>
            </a:lvl9pPr>
          </a:lstStyle>
          <a:p>
            <a:pPr>
              <a:defRPr sz="1650" b="1">
                <a:solidFill>
                  <a:srgbClr val="9D2A2A"/>
                </a:solidFill>
                <a:latin typeface="Arial"/>
                <a:ea typeface="Arial"/>
                <a:cs typeface="Arial"/>
              </a:defRPr>
            </a:pPr>
            <a:r>
              <a:rPr sz="1650" b="1">
                <a:solidFill>
                  <a:srgbClr val="9D2A2A"/>
                </a:solidFill>
                <a:latin typeface="Arial"/>
                <a:ea typeface="Arial"/>
                <a:cs typeface="Arial"/>
              </a:rPr>
              <a:t>The reliability gate failed during synchronized bursts on the single-process local server.</a:t>
            </a:r>
          </a:p>
        </p:txBody>
      </p:sp>
      <p:sp>
        <p:nvSpPr>
          <p:cNvPr id="9" name="Rectangle 8">
            <a:extLst>
              <a:ext uri="{FF2B5EF4-FFF2-40B4-BE49-F238E27FC236}">
                <a16:creationId xmlns:a16="http://schemas.microsoft.com/office/drawing/2014/main" id="{34DC9E65-227A-4E8B-B429-DBC7BDC21247}"/>
              </a:ext>
            </a:extLst>
          </p:cNvPr>
          <p:cNvSpPr>
            <a:spLocks noGrp="1"/>
          </p:cNvSpPr>
          <p:nvPr/>
        </p:nvSpPr>
        <p:spPr>
          <a:xfrm>
            <a:off x="723900" y="5734050"/>
            <a:ext cx="10668000" cy="323850"/>
          </a:xfrm>
          <a:prstGeom prst="rect">
            <a:avLst/>
          </a:prstGeom>
          <a:noFill/>
          <a:ln w="0">
            <a:noFill/>
            <a:prstDash val="solid"/>
          </a:ln>
        </p:spPr>
        <p:txBody>
          <a:bodyPr>
            <a:normAutofit/>
          </a:bodyPr>
          <a:lstStyle>
            <a:defPPr>
              <a:defRPr sz="1275" b="0">
                <a:solidFill>
                  <a:srgbClr val="536575"/>
                </a:solidFill>
                <a:latin typeface="Arial"/>
                <a:ea typeface="Arial"/>
                <a:cs typeface="Arial"/>
              </a:defRPr>
            </a:defPPr>
            <a:lvl1pPr>
              <a:defRPr sz="1275" b="0">
                <a:solidFill>
                  <a:srgbClr val="536575"/>
                </a:solidFill>
                <a:latin typeface="Arial"/>
                <a:ea typeface="Arial"/>
                <a:cs typeface="Arial"/>
              </a:defRPr>
            </a:lvl1pPr>
            <a:lvl2pPr>
              <a:defRPr sz="1275" b="0">
                <a:solidFill>
                  <a:srgbClr val="536575"/>
                </a:solidFill>
                <a:latin typeface="Arial"/>
                <a:ea typeface="Arial"/>
                <a:cs typeface="Arial"/>
              </a:defRPr>
            </a:lvl2pPr>
            <a:lvl3pPr>
              <a:defRPr sz="1275" b="0">
                <a:solidFill>
                  <a:srgbClr val="536575"/>
                </a:solidFill>
                <a:latin typeface="Arial"/>
                <a:ea typeface="Arial"/>
                <a:cs typeface="Arial"/>
              </a:defRPr>
            </a:lvl3pPr>
            <a:lvl4pPr>
              <a:defRPr sz="1275" b="0">
                <a:solidFill>
                  <a:srgbClr val="536575"/>
                </a:solidFill>
                <a:latin typeface="Arial"/>
                <a:ea typeface="Arial"/>
                <a:cs typeface="Arial"/>
              </a:defRPr>
            </a:lvl4pPr>
            <a:lvl5pPr>
              <a:defRPr sz="1275" b="0">
                <a:solidFill>
                  <a:srgbClr val="536575"/>
                </a:solidFill>
                <a:latin typeface="Arial"/>
                <a:ea typeface="Arial"/>
                <a:cs typeface="Arial"/>
              </a:defRPr>
            </a:lvl5pPr>
            <a:lvl6pPr>
              <a:defRPr sz="1275" b="0">
                <a:solidFill>
                  <a:srgbClr val="536575"/>
                </a:solidFill>
                <a:latin typeface="Arial"/>
                <a:ea typeface="Arial"/>
                <a:cs typeface="Arial"/>
              </a:defRPr>
            </a:lvl6pPr>
            <a:lvl7pPr>
              <a:defRPr sz="1275" b="0">
                <a:solidFill>
                  <a:srgbClr val="536575"/>
                </a:solidFill>
                <a:latin typeface="Arial"/>
                <a:ea typeface="Arial"/>
                <a:cs typeface="Arial"/>
              </a:defRPr>
            </a:lvl7pPr>
            <a:lvl8pPr>
              <a:defRPr sz="1275" b="0">
                <a:solidFill>
                  <a:srgbClr val="536575"/>
                </a:solidFill>
                <a:latin typeface="Arial"/>
                <a:ea typeface="Arial"/>
                <a:cs typeface="Arial"/>
              </a:defRPr>
            </a:lvl8pPr>
            <a:lvl9pPr>
              <a:defRPr sz="1275" b="0">
                <a:solidFill>
                  <a:srgbClr val="536575"/>
                </a:solidFill>
                <a:latin typeface="Arial"/>
                <a:ea typeface="Arial"/>
                <a:cs typeface="Arial"/>
              </a:defRPr>
            </a:lvl9pPr>
          </a:lstStyle>
          <a:p>
            <a:pPr>
              <a:defRPr sz="1275" b="0">
                <a:solidFill>
                  <a:srgbClr val="536575"/>
                </a:solidFill>
                <a:latin typeface="Arial"/>
                <a:ea typeface="Arial"/>
                <a:cs typeface="Arial"/>
              </a:defRPr>
            </a:pPr>
            <a:r>
              <a:rPr sz="1275" b="0">
                <a:solidFill>
                  <a:srgbClr val="536575"/>
                </a:solidFill>
                <a:latin typeface="Arial"/>
                <a:ea typeface="Arial"/>
                <a:cs typeface="Arial"/>
              </a:rPr>
              <a:t>The report suggests a queue limit as a hypothesis. Root cause is not confirmed.</a:t>
            </a:r>
          </a:p>
        </p:txBody>
      </p:sp>
    </p:spTree>
    <p:extLst>
      <p:ext uri="{BB962C8B-B14F-4D97-AF65-F5344CB8AC3E}">
        <p14:creationId xmlns:p14="http://schemas.microsoft.com/office/powerpoint/2010/main" val="860023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F958CF3-5D83-4C57-9692-2D093D3EBE66}"/>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F56105A7-B7F5-46D6-A25C-6E1564EDC5F2}"/>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Final deployment decision</a:t>
            </a:r>
          </a:p>
        </p:txBody>
      </p:sp>
      <p:sp>
        <p:nvSpPr>
          <p:cNvPr id="3" name="Rectangle 2">
            <a:extLst>
              <a:ext uri="{FF2B5EF4-FFF2-40B4-BE49-F238E27FC236}">
                <a16:creationId xmlns:a16="http://schemas.microsoft.com/office/drawing/2014/main" id="{48AD5FBC-26AB-4596-81BB-8ED3ABB307D6}"/>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78A1AEFA-980D-4716-A8BF-5258571F4E14}"/>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6D63F730-0D41-48A0-B245-8192A420B95C}"/>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09</a:t>
            </a:r>
          </a:p>
        </p:txBody>
      </p:sp>
      <p:sp>
        <p:nvSpPr>
          <p:cNvPr id="6" name="Rectangle 5">
            <a:extLst>
              <a:ext uri="{FF2B5EF4-FFF2-40B4-BE49-F238E27FC236}">
                <a16:creationId xmlns:a16="http://schemas.microsoft.com/office/drawing/2014/main" id="{35904326-1C0C-4BC3-AE74-8FF87DFA55C8}"/>
              </a:ext>
            </a:extLst>
          </p:cNvPr>
          <p:cNvSpPr>
            <a:spLocks noGrp="1"/>
          </p:cNvSpPr>
          <p:nvPr/>
        </p:nvSpPr>
        <p:spPr>
          <a:xfrm>
            <a:off x="723900" y="1600200"/>
            <a:ext cx="10001250" cy="609600"/>
          </a:xfrm>
          <a:prstGeom prst="rect">
            <a:avLst/>
          </a:prstGeom>
          <a:noFill/>
          <a:ln w="0">
            <a:noFill/>
            <a:prstDash val="solid"/>
          </a:ln>
        </p:spPr>
        <p:txBody>
          <a:bodyPr>
            <a:normAutofit/>
          </a:bodyPr>
          <a:lstStyle>
            <a:defPPr>
              <a:defRPr sz="3000" b="1">
                <a:solidFill>
                  <a:srgbClr val="9D2A2A"/>
                </a:solidFill>
                <a:latin typeface="Arial"/>
                <a:ea typeface="Arial"/>
                <a:cs typeface="Arial"/>
              </a:defRPr>
            </a:defPPr>
            <a:lvl1pPr>
              <a:defRPr sz="3000" b="1">
                <a:solidFill>
                  <a:srgbClr val="9D2A2A"/>
                </a:solidFill>
                <a:latin typeface="Arial"/>
                <a:ea typeface="Arial"/>
                <a:cs typeface="Arial"/>
              </a:defRPr>
            </a:lvl1pPr>
            <a:lvl2pPr>
              <a:defRPr sz="3000" b="1">
                <a:solidFill>
                  <a:srgbClr val="9D2A2A"/>
                </a:solidFill>
                <a:latin typeface="Arial"/>
                <a:ea typeface="Arial"/>
                <a:cs typeface="Arial"/>
              </a:defRPr>
            </a:lvl2pPr>
            <a:lvl3pPr>
              <a:defRPr sz="3000" b="1">
                <a:solidFill>
                  <a:srgbClr val="9D2A2A"/>
                </a:solidFill>
                <a:latin typeface="Arial"/>
                <a:ea typeface="Arial"/>
                <a:cs typeface="Arial"/>
              </a:defRPr>
            </a:lvl3pPr>
            <a:lvl4pPr>
              <a:defRPr sz="3000" b="1">
                <a:solidFill>
                  <a:srgbClr val="9D2A2A"/>
                </a:solidFill>
                <a:latin typeface="Arial"/>
                <a:ea typeface="Arial"/>
                <a:cs typeface="Arial"/>
              </a:defRPr>
            </a:lvl4pPr>
            <a:lvl5pPr>
              <a:defRPr sz="3000" b="1">
                <a:solidFill>
                  <a:srgbClr val="9D2A2A"/>
                </a:solidFill>
                <a:latin typeface="Arial"/>
                <a:ea typeface="Arial"/>
                <a:cs typeface="Arial"/>
              </a:defRPr>
            </a:lvl5pPr>
            <a:lvl6pPr>
              <a:defRPr sz="3000" b="1">
                <a:solidFill>
                  <a:srgbClr val="9D2A2A"/>
                </a:solidFill>
                <a:latin typeface="Arial"/>
                <a:ea typeface="Arial"/>
                <a:cs typeface="Arial"/>
              </a:defRPr>
            </a:lvl6pPr>
            <a:lvl7pPr>
              <a:defRPr sz="3000" b="1">
                <a:solidFill>
                  <a:srgbClr val="9D2A2A"/>
                </a:solidFill>
                <a:latin typeface="Arial"/>
                <a:ea typeface="Arial"/>
                <a:cs typeface="Arial"/>
              </a:defRPr>
            </a:lvl7pPr>
            <a:lvl8pPr>
              <a:defRPr sz="3000" b="1">
                <a:solidFill>
                  <a:srgbClr val="9D2A2A"/>
                </a:solidFill>
                <a:latin typeface="Arial"/>
                <a:ea typeface="Arial"/>
                <a:cs typeface="Arial"/>
              </a:defRPr>
            </a:lvl8pPr>
            <a:lvl9pPr>
              <a:defRPr sz="3000" b="1">
                <a:solidFill>
                  <a:srgbClr val="9D2A2A"/>
                </a:solidFill>
                <a:latin typeface="Arial"/>
                <a:ea typeface="Arial"/>
                <a:cs typeface="Arial"/>
              </a:defRPr>
            </a:lvl9pPr>
          </a:lstStyle>
          <a:p>
            <a:pPr>
              <a:defRPr sz="3000" b="1">
                <a:solidFill>
                  <a:srgbClr val="9D2A2A"/>
                </a:solidFill>
                <a:latin typeface="Arial"/>
                <a:ea typeface="Arial"/>
                <a:cs typeface="Arial"/>
              </a:defRPr>
            </a:pPr>
            <a:r>
              <a:rPr sz="3000" b="1">
                <a:solidFill>
                  <a:srgbClr val="9D2A2A"/>
                </a:solidFill>
                <a:latin typeface="Arial"/>
                <a:ea typeface="Arial"/>
                <a:cs typeface="Arial"/>
              </a:rPr>
              <a:t>NO-GO for production</a:t>
            </a:r>
          </a:p>
        </p:txBody>
      </p:sp>
      <p:sp>
        <p:nvSpPr>
          <p:cNvPr id="7" name="Rectangle 6">
            <a:extLst>
              <a:ext uri="{FF2B5EF4-FFF2-40B4-BE49-F238E27FC236}">
                <a16:creationId xmlns:a16="http://schemas.microsoft.com/office/drawing/2014/main" id="{55523E4C-1C52-4CD2-8EC2-5D0D8844CBC6}"/>
              </a:ext>
            </a:extLst>
          </p:cNvPr>
          <p:cNvSpPr>
            <a:spLocks noGrp="1"/>
          </p:cNvSpPr>
          <p:nvPr/>
        </p:nvSpPr>
        <p:spPr>
          <a:xfrm>
            <a:off x="742950" y="26479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8" name="Rectangle 7">
            <a:extLst>
              <a:ext uri="{FF2B5EF4-FFF2-40B4-BE49-F238E27FC236}">
                <a16:creationId xmlns:a16="http://schemas.microsoft.com/office/drawing/2014/main" id="{C7E43FF2-54A0-4E1A-A738-F6CDC1E65BBE}"/>
              </a:ext>
            </a:extLst>
          </p:cNvPr>
          <p:cNvSpPr>
            <a:spLocks noGrp="1"/>
          </p:cNvSpPr>
          <p:nvPr/>
        </p:nvSpPr>
        <p:spPr>
          <a:xfrm>
            <a:off x="1371600" y="26479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Blocking evidence</a:t>
            </a:r>
          </a:p>
        </p:txBody>
      </p:sp>
      <p:sp>
        <p:nvSpPr>
          <p:cNvPr id="9" name="Rectangle 8">
            <a:extLst>
              <a:ext uri="{FF2B5EF4-FFF2-40B4-BE49-F238E27FC236}">
                <a16:creationId xmlns:a16="http://schemas.microsoft.com/office/drawing/2014/main" id="{C14F3B0F-CC17-46CA-92BF-BF892C342D0C}"/>
              </a:ext>
            </a:extLst>
          </p:cNvPr>
          <p:cNvSpPr>
            <a:spLocks noGrp="1"/>
          </p:cNvSpPr>
          <p:nvPr/>
        </p:nvSpPr>
        <p:spPr>
          <a:xfrm>
            <a:off x="1371600" y="30194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The measured request failure rate exceeded the M1 NFR-03 limit by more than ten percentage points.</a:t>
            </a:r>
          </a:p>
        </p:txBody>
      </p:sp>
      <p:sp>
        <p:nvSpPr>
          <p:cNvPr id="10" name="Rectangle 9">
            <a:extLst>
              <a:ext uri="{FF2B5EF4-FFF2-40B4-BE49-F238E27FC236}">
                <a16:creationId xmlns:a16="http://schemas.microsoft.com/office/drawing/2014/main" id="{53946FFD-E336-49C3-A5DF-0D6D3DB01993}"/>
              </a:ext>
            </a:extLst>
          </p:cNvPr>
          <p:cNvSpPr>
            <a:spLocks noGrp="1"/>
          </p:cNvSpPr>
          <p:nvPr/>
        </p:nvSpPr>
        <p:spPr>
          <a:xfrm>
            <a:off x="742950" y="39433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1" name="Rectangle 10">
            <a:extLst>
              <a:ext uri="{FF2B5EF4-FFF2-40B4-BE49-F238E27FC236}">
                <a16:creationId xmlns:a16="http://schemas.microsoft.com/office/drawing/2014/main" id="{1B91BDCB-AF34-4CA9-B8BF-854C992529F5}"/>
              </a:ext>
            </a:extLst>
          </p:cNvPr>
          <p:cNvSpPr>
            <a:spLocks noGrp="1"/>
          </p:cNvSpPr>
          <p:nvPr/>
        </p:nvSpPr>
        <p:spPr>
          <a:xfrm>
            <a:off x="1371600" y="39433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Additional gap</a:t>
            </a:r>
          </a:p>
        </p:txBody>
      </p:sp>
      <p:sp>
        <p:nvSpPr>
          <p:cNvPr id="12" name="Rectangle 11">
            <a:extLst>
              <a:ext uri="{FF2B5EF4-FFF2-40B4-BE49-F238E27FC236}">
                <a16:creationId xmlns:a16="http://schemas.microsoft.com/office/drawing/2014/main" id="{A1FD44B2-6637-4387-9EA3-40C3283BE0A5}"/>
              </a:ext>
            </a:extLst>
          </p:cNvPr>
          <p:cNvSpPr>
            <a:spLocks noGrp="1"/>
          </p:cNvSpPr>
          <p:nvPr/>
        </p:nvSpPr>
        <p:spPr>
          <a:xfrm>
            <a:off x="1371600" y="43148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The 20-weekday business-hours availability probe required by NFR-04 is not available.</a:t>
            </a:r>
          </a:p>
        </p:txBody>
      </p:sp>
      <p:sp>
        <p:nvSpPr>
          <p:cNvPr id="13" name="Rectangle 12">
            <a:extLst>
              <a:ext uri="{FF2B5EF4-FFF2-40B4-BE49-F238E27FC236}">
                <a16:creationId xmlns:a16="http://schemas.microsoft.com/office/drawing/2014/main" id="{D834DB62-0CF2-496B-9507-6D4F879FBB0B}"/>
              </a:ext>
            </a:extLst>
          </p:cNvPr>
          <p:cNvSpPr>
            <a:spLocks noGrp="1"/>
          </p:cNvSpPr>
          <p:nvPr/>
        </p:nvSpPr>
        <p:spPr>
          <a:xfrm>
            <a:off x="742950" y="52387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4" name="Rectangle 13">
            <a:extLst>
              <a:ext uri="{FF2B5EF4-FFF2-40B4-BE49-F238E27FC236}">
                <a16:creationId xmlns:a16="http://schemas.microsoft.com/office/drawing/2014/main" id="{468399E9-9A59-44DF-852B-B300F7613D18}"/>
              </a:ext>
            </a:extLst>
          </p:cNvPr>
          <p:cNvSpPr>
            <a:spLocks noGrp="1"/>
          </p:cNvSpPr>
          <p:nvPr/>
        </p:nvSpPr>
        <p:spPr>
          <a:xfrm>
            <a:off x="1371600" y="52387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Permitted demonstration</a:t>
            </a:r>
          </a:p>
        </p:txBody>
      </p:sp>
      <p:sp>
        <p:nvSpPr>
          <p:cNvPr id="15" name="Rectangle 14">
            <a:extLst>
              <a:ext uri="{FF2B5EF4-FFF2-40B4-BE49-F238E27FC236}">
                <a16:creationId xmlns:a16="http://schemas.microsoft.com/office/drawing/2014/main" id="{FA175F12-5C60-40F2-8D05-BA33184DE74E}"/>
              </a:ext>
            </a:extLst>
          </p:cNvPr>
          <p:cNvSpPr>
            <a:spLocks noGrp="1"/>
          </p:cNvSpPr>
          <p:nvPr/>
        </p:nvSpPr>
        <p:spPr>
          <a:xfrm>
            <a:off x="1371600" y="56102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A local academic demonstration may proceed with synthetic data and the limitations disclosed.</a:t>
            </a:r>
          </a:p>
        </p:txBody>
      </p:sp>
    </p:spTree>
    <p:extLst>
      <p:ext uri="{BB962C8B-B14F-4D97-AF65-F5344CB8AC3E}">
        <p14:creationId xmlns:p14="http://schemas.microsoft.com/office/powerpoint/2010/main" val="522162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4A3FE3C-5EEE-4BCC-9D55-6CE77AE7429E}"/>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679EDE06-068A-4ED5-97B4-28B28D427B2A}"/>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Open limitations and required follow-up</a:t>
            </a:r>
          </a:p>
        </p:txBody>
      </p:sp>
      <p:sp>
        <p:nvSpPr>
          <p:cNvPr id="3" name="Rectangle 2">
            <a:extLst>
              <a:ext uri="{FF2B5EF4-FFF2-40B4-BE49-F238E27FC236}">
                <a16:creationId xmlns:a16="http://schemas.microsoft.com/office/drawing/2014/main" id="{07FDEFFB-17A2-4046-97E8-28DB486E069E}"/>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74506AF5-3AD4-41A6-969E-57380BCCF59A}"/>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6DC6BDCA-FC4E-4169-A7F3-04C62AFCDE73}"/>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10</a:t>
            </a:r>
          </a:p>
        </p:txBody>
      </p:sp>
      <p:sp>
        <p:nvSpPr>
          <p:cNvPr id="6" name="Rectangle 5">
            <a:extLst>
              <a:ext uri="{FF2B5EF4-FFF2-40B4-BE49-F238E27FC236}">
                <a16:creationId xmlns:a16="http://schemas.microsoft.com/office/drawing/2014/main" id="{5AB6E0F0-27E7-4589-BDF2-A350A37A05C0}"/>
              </a:ext>
            </a:extLst>
          </p:cNvPr>
          <p:cNvSpPr>
            <a:spLocks noGrp="1"/>
          </p:cNvSpPr>
          <p:nvPr/>
        </p:nvSpPr>
        <p:spPr>
          <a:xfrm>
            <a:off x="742950" y="16764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7" name="Rectangle 6">
            <a:extLst>
              <a:ext uri="{FF2B5EF4-FFF2-40B4-BE49-F238E27FC236}">
                <a16:creationId xmlns:a16="http://schemas.microsoft.com/office/drawing/2014/main" id="{17B39F37-813C-47F5-A897-F734E1CCE3BD}"/>
              </a:ext>
            </a:extLst>
          </p:cNvPr>
          <p:cNvSpPr>
            <a:spLocks noGrp="1"/>
          </p:cNvSpPr>
          <p:nvPr/>
        </p:nvSpPr>
        <p:spPr>
          <a:xfrm>
            <a:off x="1371600" y="16764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Reliability</a:t>
            </a:r>
          </a:p>
        </p:txBody>
      </p:sp>
      <p:sp>
        <p:nvSpPr>
          <p:cNvPr id="8" name="Rectangle 7">
            <a:extLst>
              <a:ext uri="{FF2B5EF4-FFF2-40B4-BE49-F238E27FC236}">
                <a16:creationId xmlns:a16="http://schemas.microsoft.com/office/drawing/2014/main" id="{3344719C-B6A6-4A03-8D93-58213588C5D1}"/>
              </a:ext>
            </a:extLst>
          </p:cNvPr>
          <p:cNvSpPr>
            <a:spLocks noGrp="1"/>
          </p:cNvSpPr>
          <p:nvPr/>
        </p:nvSpPr>
        <p:spPr>
          <a:xfrm>
            <a:off x="1371600" y="20478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Investigate connection resets and repeat the 50-user profile without changing the thresholds.</a:t>
            </a:r>
          </a:p>
        </p:txBody>
      </p:sp>
      <p:sp>
        <p:nvSpPr>
          <p:cNvPr id="9" name="Rectangle 8">
            <a:extLst>
              <a:ext uri="{FF2B5EF4-FFF2-40B4-BE49-F238E27FC236}">
                <a16:creationId xmlns:a16="http://schemas.microsoft.com/office/drawing/2014/main" id="{3A3A7C9D-89FE-44DD-A089-DFBD25B6BAC8}"/>
              </a:ext>
            </a:extLst>
          </p:cNvPr>
          <p:cNvSpPr>
            <a:spLocks noGrp="1"/>
          </p:cNvSpPr>
          <p:nvPr/>
        </p:nvSpPr>
        <p:spPr>
          <a:xfrm>
            <a:off x="742950" y="27813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0" name="Rectangle 9">
            <a:extLst>
              <a:ext uri="{FF2B5EF4-FFF2-40B4-BE49-F238E27FC236}">
                <a16:creationId xmlns:a16="http://schemas.microsoft.com/office/drawing/2014/main" id="{679A72DB-4594-48F2-8634-5683D321788A}"/>
              </a:ext>
            </a:extLst>
          </p:cNvPr>
          <p:cNvSpPr>
            <a:spLocks noGrp="1"/>
          </p:cNvSpPr>
          <p:nvPr/>
        </p:nvSpPr>
        <p:spPr>
          <a:xfrm>
            <a:off x="1371600" y="27813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Usability</a:t>
            </a:r>
          </a:p>
        </p:txBody>
      </p:sp>
      <p:sp>
        <p:nvSpPr>
          <p:cNvPr id="11" name="Rectangle 10">
            <a:extLst>
              <a:ext uri="{FF2B5EF4-FFF2-40B4-BE49-F238E27FC236}">
                <a16:creationId xmlns:a16="http://schemas.microsoft.com/office/drawing/2014/main" id="{FEC341CD-9F78-4009-B85F-60EB9685863C}"/>
              </a:ext>
            </a:extLst>
          </p:cNvPr>
          <p:cNvSpPr>
            <a:spLocks noGrp="1"/>
          </p:cNvSpPr>
          <p:nvPr/>
        </p:nvSpPr>
        <p:spPr>
          <a:xfrm>
            <a:off x="1371600" y="31527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Complete the defined five-person study or formally change the signed-off M1 criterion.</a:t>
            </a:r>
          </a:p>
        </p:txBody>
      </p:sp>
      <p:sp>
        <p:nvSpPr>
          <p:cNvPr id="12" name="Rectangle 11">
            <a:extLst>
              <a:ext uri="{FF2B5EF4-FFF2-40B4-BE49-F238E27FC236}">
                <a16:creationId xmlns:a16="http://schemas.microsoft.com/office/drawing/2014/main" id="{09A9B8AD-0B60-44B3-8CE2-05783F2925BD}"/>
              </a:ext>
            </a:extLst>
          </p:cNvPr>
          <p:cNvSpPr>
            <a:spLocks noGrp="1"/>
          </p:cNvSpPr>
          <p:nvPr/>
        </p:nvSpPr>
        <p:spPr>
          <a:xfrm>
            <a:off x="742950" y="38862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3" name="Rectangle 12">
            <a:extLst>
              <a:ext uri="{FF2B5EF4-FFF2-40B4-BE49-F238E27FC236}">
                <a16:creationId xmlns:a16="http://schemas.microsoft.com/office/drawing/2014/main" id="{DCBEC5FA-4485-41E2-85CD-94D44978E102}"/>
              </a:ext>
            </a:extLst>
          </p:cNvPr>
          <p:cNvSpPr>
            <a:spLocks noGrp="1"/>
          </p:cNvSpPr>
          <p:nvPr/>
        </p:nvSpPr>
        <p:spPr>
          <a:xfrm>
            <a:off x="1371600" y="38862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Availability</a:t>
            </a:r>
          </a:p>
        </p:txBody>
      </p:sp>
      <p:sp>
        <p:nvSpPr>
          <p:cNvPr id="14" name="Rectangle 13">
            <a:extLst>
              <a:ext uri="{FF2B5EF4-FFF2-40B4-BE49-F238E27FC236}">
                <a16:creationId xmlns:a16="http://schemas.microsoft.com/office/drawing/2014/main" id="{93122FF6-588B-4753-92B2-8C111BF6D88E}"/>
              </a:ext>
            </a:extLst>
          </p:cNvPr>
          <p:cNvSpPr>
            <a:spLocks noGrp="1"/>
          </p:cNvSpPr>
          <p:nvPr/>
        </p:nvSpPr>
        <p:spPr>
          <a:xfrm>
            <a:off x="1371600" y="42576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Collect 20 weekdays of one-minute business-hours probes before claiming hosted availability.</a:t>
            </a:r>
          </a:p>
        </p:txBody>
      </p:sp>
      <p:sp>
        <p:nvSpPr>
          <p:cNvPr id="15" name="Rectangle 14">
            <a:extLst>
              <a:ext uri="{FF2B5EF4-FFF2-40B4-BE49-F238E27FC236}">
                <a16:creationId xmlns:a16="http://schemas.microsoft.com/office/drawing/2014/main" id="{3C75CC15-4AB9-4A46-8171-2D0BDD2AFEE4}"/>
              </a:ext>
            </a:extLst>
          </p:cNvPr>
          <p:cNvSpPr>
            <a:spLocks noGrp="1"/>
          </p:cNvSpPr>
          <p:nvPr/>
        </p:nvSpPr>
        <p:spPr>
          <a:xfrm>
            <a:off x="742950" y="49911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04</a:t>
            </a:r>
          </a:p>
        </p:txBody>
      </p:sp>
      <p:sp>
        <p:nvSpPr>
          <p:cNvPr id="16" name="Rectangle 15">
            <a:extLst>
              <a:ext uri="{FF2B5EF4-FFF2-40B4-BE49-F238E27FC236}">
                <a16:creationId xmlns:a16="http://schemas.microsoft.com/office/drawing/2014/main" id="{E99FBEB6-136E-42C9-BB3C-FE9C8E376808}"/>
              </a:ext>
            </a:extLst>
          </p:cNvPr>
          <p:cNvSpPr>
            <a:spLocks noGrp="1"/>
          </p:cNvSpPr>
          <p:nvPr/>
        </p:nvSpPr>
        <p:spPr>
          <a:xfrm>
            <a:off x="1371600" y="49911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Traceability</a:t>
            </a:r>
          </a:p>
        </p:txBody>
      </p:sp>
      <p:sp>
        <p:nvSpPr>
          <p:cNvPr id="17" name="Rectangle 16">
            <a:extLst>
              <a:ext uri="{FF2B5EF4-FFF2-40B4-BE49-F238E27FC236}">
                <a16:creationId xmlns:a16="http://schemas.microsoft.com/office/drawing/2014/main" id="{F47A3FDD-3E52-4C99-83F6-92D26C04C9EF}"/>
              </a:ext>
            </a:extLst>
          </p:cNvPr>
          <p:cNvSpPr>
            <a:spLocks noGrp="1"/>
          </p:cNvSpPr>
          <p:nvPr/>
        </p:nvSpPr>
        <p:spPr>
          <a:xfrm>
            <a:off x="1371600" y="53625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Close remaining requirement-to-decision/design/test links and confirm the final assessed SHA.</a:t>
            </a:r>
          </a:p>
        </p:txBody>
      </p:sp>
    </p:spTree>
    <p:extLst>
      <p:ext uri="{BB962C8B-B14F-4D97-AF65-F5344CB8AC3E}">
        <p14:creationId xmlns:p14="http://schemas.microsoft.com/office/powerpoint/2010/main" val="2102287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3330439-A3DF-49DB-8B20-5707D6D18BA1}"/>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11548A47-1A86-4814-BEAB-AE63FC08DC48}"/>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Engineering decisions and consequences</a:t>
            </a:r>
          </a:p>
        </p:txBody>
      </p:sp>
      <p:sp>
        <p:nvSpPr>
          <p:cNvPr id="3" name="Rectangle 2">
            <a:extLst>
              <a:ext uri="{FF2B5EF4-FFF2-40B4-BE49-F238E27FC236}">
                <a16:creationId xmlns:a16="http://schemas.microsoft.com/office/drawing/2014/main" id="{666BB970-BE2D-46BE-ACB2-16C1EA819C8A}"/>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28EF41C9-1C64-4FE3-ABF4-438FEC15FE7E}"/>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9D290BED-6670-4597-889B-C90B1E39B07D}"/>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11</a:t>
            </a:r>
          </a:p>
        </p:txBody>
      </p:sp>
      <p:sp>
        <p:nvSpPr>
          <p:cNvPr id="6" name="Rectangle 5">
            <a:extLst>
              <a:ext uri="{FF2B5EF4-FFF2-40B4-BE49-F238E27FC236}">
                <a16:creationId xmlns:a16="http://schemas.microsoft.com/office/drawing/2014/main" id="{AA6B8D31-0278-499F-994D-3A94C4C08547}"/>
              </a:ext>
            </a:extLst>
          </p:cNvPr>
          <p:cNvSpPr>
            <a:spLocks noGrp="1"/>
          </p:cNvSpPr>
          <p:nvPr/>
        </p:nvSpPr>
        <p:spPr>
          <a:xfrm>
            <a:off x="742950" y="17907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7" name="Rectangle 6">
            <a:extLst>
              <a:ext uri="{FF2B5EF4-FFF2-40B4-BE49-F238E27FC236}">
                <a16:creationId xmlns:a16="http://schemas.microsoft.com/office/drawing/2014/main" id="{0908BE09-A781-46F7-9DC6-A4F74516E07B}"/>
              </a:ext>
            </a:extLst>
          </p:cNvPr>
          <p:cNvSpPr>
            <a:spLocks noGrp="1"/>
          </p:cNvSpPr>
          <p:nvPr/>
        </p:nvSpPr>
        <p:spPr>
          <a:xfrm>
            <a:off x="1371600" y="17907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Local Python and SQLite</a:t>
            </a:r>
          </a:p>
        </p:txBody>
      </p:sp>
      <p:sp>
        <p:nvSpPr>
          <p:cNvPr id="8" name="Rectangle 7">
            <a:extLst>
              <a:ext uri="{FF2B5EF4-FFF2-40B4-BE49-F238E27FC236}">
                <a16:creationId xmlns:a16="http://schemas.microsoft.com/office/drawing/2014/main" id="{B205E811-6DBA-4D46-9896-FF7C26B85721}"/>
              </a:ext>
            </a:extLst>
          </p:cNvPr>
          <p:cNvSpPr>
            <a:spLocks noGrp="1"/>
          </p:cNvSpPr>
          <p:nvPr/>
        </p:nvSpPr>
        <p:spPr>
          <a:xfrm>
            <a:off x="1371600" y="21621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Supported a low-cost integrated academic application and a reproducible local demonstration.</a:t>
            </a:r>
          </a:p>
        </p:txBody>
      </p:sp>
      <p:sp>
        <p:nvSpPr>
          <p:cNvPr id="9" name="Rectangle 8">
            <a:extLst>
              <a:ext uri="{FF2B5EF4-FFF2-40B4-BE49-F238E27FC236}">
                <a16:creationId xmlns:a16="http://schemas.microsoft.com/office/drawing/2014/main" id="{D624DC45-B2C1-4230-BD1A-E24CF98ECC96}"/>
              </a:ext>
            </a:extLst>
          </p:cNvPr>
          <p:cNvSpPr>
            <a:spLocks noGrp="1"/>
          </p:cNvSpPr>
          <p:nvPr/>
        </p:nvSpPr>
        <p:spPr>
          <a:xfrm>
            <a:off x="742950" y="31813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0" name="Rectangle 9">
            <a:extLst>
              <a:ext uri="{FF2B5EF4-FFF2-40B4-BE49-F238E27FC236}">
                <a16:creationId xmlns:a16="http://schemas.microsoft.com/office/drawing/2014/main" id="{575BAFE4-2009-4504-B247-7434646A24D0}"/>
              </a:ext>
            </a:extLst>
          </p:cNvPr>
          <p:cNvSpPr>
            <a:spLocks noGrp="1"/>
          </p:cNvSpPr>
          <p:nvPr/>
        </p:nvSpPr>
        <p:spPr>
          <a:xfrm>
            <a:off x="1371600" y="31813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Single-process local server</a:t>
            </a:r>
          </a:p>
        </p:txBody>
      </p:sp>
      <p:sp>
        <p:nvSpPr>
          <p:cNvPr id="11" name="Rectangle 10">
            <a:extLst>
              <a:ext uri="{FF2B5EF4-FFF2-40B4-BE49-F238E27FC236}">
                <a16:creationId xmlns:a16="http://schemas.microsoft.com/office/drawing/2014/main" id="{BF0ADD36-A759-4F69-A64C-3AF70C2B5042}"/>
              </a:ext>
            </a:extLst>
          </p:cNvPr>
          <p:cNvSpPr>
            <a:spLocks noGrp="1"/>
          </p:cNvSpPr>
          <p:nvPr/>
        </p:nvSpPr>
        <p:spPr>
          <a:xfrm>
            <a:off x="1371600" y="35528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The synchronized profile recorded connection resets. The release decision therefore remains no-go pending diagnosis.</a:t>
            </a:r>
          </a:p>
        </p:txBody>
      </p:sp>
      <p:sp>
        <p:nvSpPr>
          <p:cNvPr id="12" name="Rectangle 11">
            <a:extLst>
              <a:ext uri="{FF2B5EF4-FFF2-40B4-BE49-F238E27FC236}">
                <a16:creationId xmlns:a16="http://schemas.microsoft.com/office/drawing/2014/main" id="{6E670636-4FF9-4F9C-A8D3-CD39E40BF8A4}"/>
              </a:ext>
            </a:extLst>
          </p:cNvPr>
          <p:cNvSpPr>
            <a:spLocks noGrp="1"/>
          </p:cNvSpPr>
          <p:nvPr/>
        </p:nvSpPr>
        <p:spPr>
          <a:xfrm>
            <a:off x="742950" y="45720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03</a:t>
            </a:r>
          </a:p>
        </p:txBody>
      </p:sp>
      <p:sp>
        <p:nvSpPr>
          <p:cNvPr id="13" name="Rectangle 12">
            <a:extLst>
              <a:ext uri="{FF2B5EF4-FFF2-40B4-BE49-F238E27FC236}">
                <a16:creationId xmlns:a16="http://schemas.microsoft.com/office/drawing/2014/main" id="{4AD3CB40-E68E-4866-B730-34EF8D362B7C}"/>
              </a:ext>
            </a:extLst>
          </p:cNvPr>
          <p:cNvSpPr>
            <a:spLocks noGrp="1"/>
          </p:cNvSpPr>
          <p:nvPr/>
        </p:nvSpPr>
        <p:spPr>
          <a:xfrm>
            <a:off x="1371600" y="45720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Controlled scope</a:t>
            </a:r>
          </a:p>
        </p:txBody>
      </p:sp>
      <p:sp>
        <p:nvSpPr>
          <p:cNvPr id="14" name="Rectangle 13">
            <a:extLst>
              <a:ext uri="{FF2B5EF4-FFF2-40B4-BE49-F238E27FC236}">
                <a16:creationId xmlns:a16="http://schemas.microsoft.com/office/drawing/2014/main" id="{7C4F3D6A-0A85-4DF3-89AB-0BDF5FDC62EA}"/>
              </a:ext>
            </a:extLst>
          </p:cNvPr>
          <p:cNvSpPr>
            <a:spLocks noGrp="1"/>
          </p:cNvSpPr>
          <p:nvPr/>
        </p:nvSpPr>
        <p:spPr>
          <a:xfrm>
            <a:off x="1371600" y="49434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Deferred enhancements stayed outside the committed baseline while core requests, staff work and oversight were prioritised.</a:t>
            </a:r>
          </a:p>
        </p:txBody>
      </p:sp>
    </p:spTree>
    <p:extLst>
      <p:ext uri="{BB962C8B-B14F-4D97-AF65-F5344CB8AC3E}">
        <p14:creationId xmlns:p14="http://schemas.microsoft.com/office/powerpoint/2010/main" val="30906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9"/>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E158DD-0C3B-4961-B53F-7528C2AC58DE}"/>
              </a:ext>
            </a:extLst>
          </p:cNvPr>
          <p:cNvSpPr>
            <a:spLocks noGrp="1"/>
          </p:cNvSpPr>
          <p:nvPr/>
        </p:nvSpPr>
        <p:spPr>
          <a:xfrm>
            <a:off x="0" y="0"/>
            <a:ext cx="12192000" cy="133350"/>
          </a:xfrm>
          <a:prstGeom prst="rect">
            <a:avLst/>
          </a:prstGeom>
          <a:solidFill>
            <a:srgbClr val="087E8B"/>
          </a:solidFill>
          <a:ln w="0">
            <a:noFill/>
            <a:prstDash val="solid"/>
          </a:ln>
        </p:spPr>
        <p:txBody>
          <a:bodyPr/>
          <a:lstStyle/>
          <a:p>
            <a:endParaRPr lang="en-ZA"/>
          </a:p>
        </p:txBody>
      </p:sp>
      <p:sp>
        <p:nvSpPr>
          <p:cNvPr id="2" name="Rectangle 1">
            <a:extLst>
              <a:ext uri="{FF2B5EF4-FFF2-40B4-BE49-F238E27FC236}">
                <a16:creationId xmlns:a16="http://schemas.microsoft.com/office/drawing/2014/main" id="{ADA6BD66-5990-4E48-8244-72E58452486F}"/>
              </a:ext>
            </a:extLst>
          </p:cNvPr>
          <p:cNvSpPr>
            <a:spLocks noGrp="1"/>
          </p:cNvSpPr>
          <p:nvPr/>
        </p:nvSpPr>
        <p:spPr>
          <a:xfrm>
            <a:off x="685800" y="457200"/>
            <a:ext cx="10572750" cy="609600"/>
          </a:xfrm>
          <a:prstGeom prst="rect">
            <a:avLst/>
          </a:prstGeom>
          <a:noFill/>
          <a:ln w="0">
            <a:noFill/>
            <a:prstDash val="solid"/>
          </a:ln>
        </p:spPr>
        <p:txBody>
          <a:bodyPr>
            <a:normAutofit/>
          </a:bodyPr>
          <a:lstStyle>
            <a:defPPr>
              <a:defRPr sz="3000" b="1">
                <a:solidFill>
                  <a:srgbClr val="102A43"/>
                </a:solidFill>
                <a:latin typeface="Arial"/>
                <a:ea typeface="Arial"/>
                <a:cs typeface="Arial"/>
              </a:defRPr>
            </a:defPPr>
            <a:lvl1pPr>
              <a:defRPr sz="3000" b="1">
                <a:solidFill>
                  <a:srgbClr val="102A43"/>
                </a:solidFill>
                <a:latin typeface="Arial"/>
                <a:ea typeface="Arial"/>
                <a:cs typeface="Arial"/>
              </a:defRPr>
            </a:lvl1pPr>
            <a:lvl2pPr>
              <a:defRPr sz="3000" b="1">
                <a:solidFill>
                  <a:srgbClr val="102A43"/>
                </a:solidFill>
                <a:latin typeface="Arial"/>
                <a:ea typeface="Arial"/>
                <a:cs typeface="Arial"/>
              </a:defRPr>
            </a:lvl2pPr>
            <a:lvl3pPr>
              <a:defRPr sz="3000" b="1">
                <a:solidFill>
                  <a:srgbClr val="102A43"/>
                </a:solidFill>
                <a:latin typeface="Arial"/>
                <a:ea typeface="Arial"/>
                <a:cs typeface="Arial"/>
              </a:defRPr>
            </a:lvl3pPr>
            <a:lvl4pPr>
              <a:defRPr sz="3000" b="1">
                <a:solidFill>
                  <a:srgbClr val="102A43"/>
                </a:solidFill>
                <a:latin typeface="Arial"/>
                <a:ea typeface="Arial"/>
                <a:cs typeface="Arial"/>
              </a:defRPr>
            </a:lvl4pPr>
            <a:lvl5pPr>
              <a:defRPr sz="3000" b="1">
                <a:solidFill>
                  <a:srgbClr val="102A43"/>
                </a:solidFill>
                <a:latin typeface="Arial"/>
                <a:ea typeface="Arial"/>
                <a:cs typeface="Arial"/>
              </a:defRPr>
            </a:lvl5pPr>
            <a:lvl6pPr>
              <a:defRPr sz="3000" b="1">
                <a:solidFill>
                  <a:srgbClr val="102A43"/>
                </a:solidFill>
                <a:latin typeface="Arial"/>
                <a:ea typeface="Arial"/>
                <a:cs typeface="Arial"/>
              </a:defRPr>
            </a:lvl6pPr>
            <a:lvl7pPr>
              <a:defRPr sz="3000" b="1">
                <a:solidFill>
                  <a:srgbClr val="102A43"/>
                </a:solidFill>
                <a:latin typeface="Arial"/>
                <a:ea typeface="Arial"/>
                <a:cs typeface="Arial"/>
              </a:defRPr>
            </a:lvl7pPr>
            <a:lvl8pPr>
              <a:defRPr sz="3000" b="1">
                <a:solidFill>
                  <a:srgbClr val="102A43"/>
                </a:solidFill>
                <a:latin typeface="Arial"/>
                <a:ea typeface="Arial"/>
                <a:cs typeface="Arial"/>
              </a:defRPr>
            </a:lvl8pPr>
            <a:lvl9pPr>
              <a:defRPr sz="3000" b="1">
                <a:solidFill>
                  <a:srgbClr val="102A43"/>
                </a:solidFill>
                <a:latin typeface="Arial"/>
                <a:ea typeface="Arial"/>
                <a:cs typeface="Arial"/>
              </a:defRPr>
            </a:lvl9pPr>
          </a:lstStyle>
          <a:p>
            <a:pPr>
              <a:defRPr sz="3000" b="1">
                <a:solidFill>
                  <a:srgbClr val="102A43"/>
                </a:solidFill>
                <a:latin typeface="Arial"/>
                <a:ea typeface="Arial"/>
                <a:cs typeface="Arial"/>
              </a:defRPr>
            </a:pPr>
            <a:r>
              <a:rPr sz="3000" b="1">
                <a:solidFill>
                  <a:srgbClr val="102A43"/>
                </a:solidFill>
                <a:latin typeface="Arial"/>
                <a:ea typeface="Arial"/>
                <a:cs typeface="Arial"/>
              </a:rPr>
              <a:t>Project conclusion and individual defence</a:t>
            </a:r>
          </a:p>
        </p:txBody>
      </p:sp>
      <p:sp>
        <p:nvSpPr>
          <p:cNvPr id="3" name="Rectangle 2">
            <a:extLst>
              <a:ext uri="{FF2B5EF4-FFF2-40B4-BE49-F238E27FC236}">
                <a16:creationId xmlns:a16="http://schemas.microsoft.com/office/drawing/2014/main" id="{960223D1-DFF8-4A27-8078-D0BA30715968}"/>
              </a:ext>
            </a:extLst>
          </p:cNvPr>
          <p:cNvSpPr>
            <a:spLocks noGrp="1"/>
          </p:cNvSpPr>
          <p:nvPr/>
        </p:nvSpPr>
        <p:spPr>
          <a:xfrm>
            <a:off x="685800" y="1143000"/>
            <a:ext cx="590550" cy="47625"/>
          </a:xfrm>
          <a:prstGeom prst="rect">
            <a:avLst/>
          </a:prstGeom>
          <a:solidFill>
            <a:srgbClr val="D39A2C"/>
          </a:solidFill>
          <a:ln w="0">
            <a:noFill/>
            <a:prstDash val="solid"/>
          </a:ln>
        </p:spPr>
        <p:txBody>
          <a:bodyPr/>
          <a:lstStyle/>
          <a:p>
            <a:endParaRPr lang="en-ZA"/>
          </a:p>
        </p:txBody>
      </p:sp>
      <p:sp>
        <p:nvSpPr>
          <p:cNvPr id="4" name="Rectangle 3">
            <a:extLst>
              <a:ext uri="{FF2B5EF4-FFF2-40B4-BE49-F238E27FC236}">
                <a16:creationId xmlns:a16="http://schemas.microsoft.com/office/drawing/2014/main" id="{F79BC3F4-A497-404C-B6B2-064BB63AAB05}"/>
              </a:ext>
            </a:extLst>
          </p:cNvPr>
          <p:cNvSpPr>
            <a:spLocks noGrp="1"/>
          </p:cNvSpPr>
          <p:nvPr/>
        </p:nvSpPr>
        <p:spPr>
          <a:xfrm>
            <a:off x="685800" y="6457950"/>
            <a:ext cx="6667500" cy="190500"/>
          </a:xfrm>
          <a:prstGeom prst="rect">
            <a:avLst/>
          </a:prstGeom>
          <a:noFill/>
          <a:ln w="0">
            <a:noFill/>
            <a:prstDash val="solid"/>
          </a:ln>
        </p:spPr>
        <p:txBody>
          <a:bodyPr>
            <a:normAutofit fontScale="61905"/>
          </a:bodyPr>
          <a:lstStyle>
            <a:defPPr>
              <a:defRPr sz="1050" b="0">
                <a:solidFill>
                  <a:srgbClr val="536575"/>
                </a:solidFill>
                <a:latin typeface="Arial"/>
                <a:ea typeface="Arial"/>
                <a:cs typeface="Arial"/>
              </a:defRPr>
            </a:defPPr>
            <a:lvl1pPr>
              <a:defRPr sz="1050" b="0">
                <a:solidFill>
                  <a:srgbClr val="536575"/>
                </a:solidFill>
                <a:latin typeface="Arial"/>
                <a:ea typeface="Arial"/>
                <a:cs typeface="Arial"/>
              </a:defRPr>
            </a:lvl1pPr>
            <a:lvl2pPr>
              <a:defRPr sz="1050" b="0">
                <a:solidFill>
                  <a:srgbClr val="536575"/>
                </a:solidFill>
                <a:latin typeface="Arial"/>
                <a:ea typeface="Arial"/>
                <a:cs typeface="Arial"/>
              </a:defRPr>
            </a:lvl2pPr>
            <a:lvl3pPr>
              <a:defRPr sz="1050" b="0">
                <a:solidFill>
                  <a:srgbClr val="536575"/>
                </a:solidFill>
                <a:latin typeface="Arial"/>
                <a:ea typeface="Arial"/>
                <a:cs typeface="Arial"/>
              </a:defRPr>
            </a:lvl3pPr>
            <a:lvl4pPr>
              <a:defRPr sz="1050" b="0">
                <a:solidFill>
                  <a:srgbClr val="536575"/>
                </a:solidFill>
                <a:latin typeface="Arial"/>
                <a:ea typeface="Arial"/>
                <a:cs typeface="Arial"/>
              </a:defRPr>
            </a:lvl4pPr>
            <a:lvl5pPr>
              <a:defRPr sz="1050" b="0">
                <a:solidFill>
                  <a:srgbClr val="536575"/>
                </a:solidFill>
                <a:latin typeface="Arial"/>
                <a:ea typeface="Arial"/>
                <a:cs typeface="Arial"/>
              </a:defRPr>
            </a:lvl5pPr>
            <a:lvl6pPr>
              <a:defRPr sz="1050" b="0">
                <a:solidFill>
                  <a:srgbClr val="536575"/>
                </a:solidFill>
                <a:latin typeface="Arial"/>
                <a:ea typeface="Arial"/>
                <a:cs typeface="Arial"/>
              </a:defRPr>
            </a:lvl6pPr>
            <a:lvl7pPr>
              <a:defRPr sz="1050" b="0">
                <a:solidFill>
                  <a:srgbClr val="536575"/>
                </a:solidFill>
                <a:latin typeface="Arial"/>
                <a:ea typeface="Arial"/>
                <a:cs typeface="Arial"/>
              </a:defRPr>
            </a:lvl7pPr>
            <a:lvl8pPr>
              <a:defRPr sz="1050" b="0">
                <a:solidFill>
                  <a:srgbClr val="536575"/>
                </a:solidFill>
                <a:latin typeface="Arial"/>
                <a:ea typeface="Arial"/>
                <a:cs typeface="Arial"/>
              </a:defRPr>
            </a:lvl8pPr>
            <a:lvl9pPr>
              <a:defRPr sz="1050" b="0">
                <a:solidFill>
                  <a:srgbClr val="536575"/>
                </a:solidFill>
                <a:latin typeface="Arial"/>
                <a:ea typeface="Arial"/>
                <a:cs typeface="Arial"/>
              </a:defRPr>
            </a:lvl9pPr>
          </a:lstStyle>
          <a:p>
            <a:pPr>
              <a:defRPr sz="1050" b="0">
                <a:solidFill>
                  <a:srgbClr val="536575"/>
                </a:solidFill>
                <a:latin typeface="Arial"/>
                <a:ea typeface="Arial"/>
                <a:cs typeface="Arial"/>
              </a:defRPr>
            </a:pPr>
            <a:r>
              <a:rPr sz="1050" b="0">
                <a:solidFill>
                  <a:srgbClr val="536575"/>
                </a:solidFill>
                <a:latin typeface="Arial"/>
                <a:ea typeface="Arial"/>
                <a:cs typeface="Arial"/>
              </a:rPr>
              <a:t>CivicConnect Final Project</a:t>
            </a:r>
          </a:p>
        </p:txBody>
      </p:sp>
      <p:sp>
        <p:nvSpPr>
          <p:cNvPr id="5" name="Rectangle 4">
            <a:extLst>
              <a:ext uri="{FF2B5EF4-FFF2-40B4-BE49-F238E27FC236}">
                <a16:creationId xmlns:a16="http://schemas.microsoft.com/office/drawing/2014/main" id="{942BAF22-AA4E-4BA8-86DD-3B2F98C0818F}"/>
              </a:ext>
            </a:extLst>
          </p:cNvPr>
          <p:cNvSpPr>
            <a:spLocks noGrp="1"/>
          </p:cNvSpPr>
          <p:nvPr/>
        </p:nvSpPr>
        <p:spPr>
          <a:xfrm>
            <a:off x="11049000" y="6419850"/>
            <a:ext cx="457200" cy="228600"/>
          </a:xfrm>
          <a:prstGeom prst="rect">
            <a:avLst/>
          </a:prstGeom>
          <a:noFill/>
          <a:ln w="0">
            <a:noFill/>
            <a:prstDash val="solid"/>
          </a:ln>
        </p:spPr>
        <p:txBody>
          <a:bodyPr>
            <a:normAutofit fontScale="75000"/>
          </a:bodyPr>
          <a:lstStyle>
            <a:defPPr>
              <a:defRPr sz="1200" b="1">
                <a:solidFill>
                  <a:srgbClr val="536575"/>
                </a:solidFill>
                <a:latin typeface="Arial"/>
                <a:ea typeface="Arial"/>
                <a:cs typeface="Arial"/>
              </a:defRPr>
            </a:defPPr>
            <a:lvl1pPr>
              <a:defRPr sz="1200" b="1">
                <a:solidFill>
                  <a:srgbClr val="536575"/>
                </a:solidFill>
                <a:latin typeface="Arial"/>
                <a:ea typeface="Arial"/>
                <a:cs typeface="Arial"/>
              </a:defRPr>
            </a:lvl1pPr>
            <a:lvl2pPr>
              <a:defRPr sz="1200" b="1">
                <a:solidFill>
                  <a:srgbClr val="536575"/>
                </a:solidFill>
                <a:latin typeface="Arial"/>
                <a:ea typeface="Arial"/>
                <a:cs typeface="Arial"/>
              </a:defRPr>
            </a:lvl2pPr>
            <a:lvl3pPr>
              <a:defRPr sz="1200" b="1">
                <a:solidFill>
                  <a:srgbClr val="536575"/>
                </a:solidFill>
                <a:latin typeface="Arial"/>
                <a:ea typeface="Arial"/>
                <a:cs typeface="Arial"/>
              </a:defRPr>
            </a:lvl3pPr>
            <a:lvl4pPr>
              <a:defRPr sz="1200" b="1">
                <a:solidFill>
                  <a:srgbClr val="536575"/>
                </a:solidFill>
                <a:latin typeface="Arial"/>
                <a:ea typeface="Arial"/>
                <a:cs typeface="Arial"/>
              </a:defRPr>
            </a:lvl4pPr>
            <a:lvl5pPr>
              <a:defRPr sz="1200" b="1">
                <a:solidFill>
                  <a:srgbClr val="536575"/>
                </a:solidFill>
                <a:latin typeface="Arial"/>
                <a:ea typeface="Arial"/>
                <a:cs typeface="Arial"/>
              </a:defRPr>
            </a:lvl5pPr>
            <a:lvl6pPr>
              <a:defRPr sz="1200" b="1">
                <a:solidFill>
                  <a:srgbClr val="536575"/>
                </a:solidFill>
                <a:latin typeface="Arial"/>
                <a:ea typeface="Arial"/>
                <a:cs typeface="Arial"/>
              </a:defRPr>
            </a:lvl6pPr>
            <a:lvl7pPr>
              <a:defRPr sz="1200" b="1">
                <a:solidFill>
                  <a:srgbClr val="536575"/>
                </a:solidFill>
                <a:latin typeface="Arial"/>
                <a:ea typeface="Arial"/>
                <a:cs typeface="Arial"/>
              </a:defRPr>
            </a:lvl7pPr>
            <a:lvl8pPr>
              <a:defRPr sz="1200" b="1">
                <a:solidFill>
                  <a:srgbClr val="536575"/>
                </a:solidFill>
                <a:latin typeface="Arial"/>
                <a:ea typeface="Arial"/>
                <a:cs typeface="Arial"/>
              </a:defRPr>
            </a:lvl8pPr>
            <a:lvl9pPr>
              <a:defRPr sz="1200" b="1">
                <a:solidFill>
                  <a:srgbClr val="536575"/>
                </a:solidFill>
                <a:latin typeface="Arial"/>
                <a:ea typeface="Arial"/>
                <a:cs typeface="Arial"/>
              </a:defRPr>
            </a:lvl9pPr>
          </a:lstStyle>
          <a:p>
            <a:pPr>
              <a:defRPr sz="1200" b="1">
                <a:solidFill>
                  <a:srgbClr val="536575"/>
                </a:solidFill>
                <a:latin typeface="Arial"/>
                <a:ea typeface="Arial"/>
                <a:cs typeface="Arial"/>
              </a:defRPr>
            </a:pPr>
            <a:r>
              <a:rPr sz="1200" b="1">
                <a:solidFill>
                  <a:srgbClr val="536575"/>
                </a:solidFill>
                <a:latin typeface="Arial"/>
                <a:ea typeface="Arial"/>
                <a:cs typeface="Arial"/>
              </a:rPr>
              <a:t>12</a:t>
            </a:r>
          </a:p>
        </p:txBody>
      </p:sp>
      <p:sp>
        <p:nvSpPr>
          <p:cNvPr id="6" name="Rectangle 5">
            <a:extLst>
              <a:ext uri="{FF2B5EF4-FFF2-40B4-BE49-F238E27FC236}">
                <a16:creationId xmlns:a16="http://schemas.microsoft.com/office/drawing/2014/main" id="{F4C77237-A604-41B4-B738-1D56A59F849A}"/>
              </a:ext>
            </a:extLst>
          </p:cNvPr>
          <p:cNvSpPr>
            <a:spLocks noGrp="1"/>
          </p:cNvSpPr>
          <p:nvPr/>
        </p:nvSpPr>
        <p:spPr>
          <a:xfrm>
            <a:off x="723900" y="1562100"/>
            <a:ext cx="10572750" cy="666750"/>
          </a:xfrm>
          <a:prstGeom prst="rect">
            <a:avLst/>
          </a:prstGeom>
          <a:noFill/>
          <a:ln w="0">
            <a:noFill/>
            <a:prstDash val="solid"/>
          </a:ln>
        </p:spPr>
        <p:txBody>
          <a:bodyPr>
            <a:normAutofit fontScale="89881"/>
          </a:bodyPr>
          <a:lstStyle>
            <a:defPPr>
              <a:defRPr sz="2100" b="1">
                <a:solidFill>
                  <a:srgbClr val="102A43"/>
                </a:solidFill>
                <a:latin typeface="Arial"/>
                <a:ea typeface="Arial"/>
                <a:cs typeface="Arial"/>
              </a:defRPr>
            </a:defPPr>
            <a:lvl1pPr>
              <a:defRPr sz="2100" b="1">
                <a:solidFill>
                  <a:srgbClr val="102A43"/>
                </a:solidFill>
                <a:latin typeface="Arial"/>
                <a:ea typeface="Arial"/>
                <a:cs typeface="Arial"/>
              </a:defRPr>
            </a:lvl1pPr>
            <a:lvl2pPr>
              <a:defRPr sz="2100" b="1">
                <a:solidFill>
                  <a:srgbClr val="102A43"/>
                </a:solidFill>
                <a:latin typeface="Arial"/>
                <a:ea typeface="Arial"/>
                <a:cs typeface="Arial"/>
              </a:defRPr>
            </a:lvl2pPr>
            <a:lvl3pPr>
              <a:defRPr sz="2100" b="1">
                <a:solidFill>
                  <a:srgbClr val="102A43"/>
                </a:solidFill>
                <a:latin typeface="Arial"/>
                <a:ea typeface="Arial"/>
                <a:cs typeface="Arial"/>
              </a:defRPr>
            </a:lvl3pPr>
            <a:lvl4pPr>
              <a:defRPr sz="2100" b="1">
                <a:solidFill>
                  <a:srgbClr val="102A43"/>
                </a:solidFill>
                <a:latin typeface="Arial"/>
                <a:ea typeface="Arial"/>
                <a:cs typeface="Arial"/>
              </a:defRPr>
            </a:lvl4pPr>
            <a:lvl5pPr>
              <a:defRPr sz="2100" b="1">
                <a:solidFill>
                  <a:srgbClr val="102A43"/>
                </a:solidFill>
                <a:latin typeface="Arial"/>
                <a:ea typeface="Arial"/>
                <a:cs typeface="Arial"/>
              </a:defRPr>
            </a:lvl5pPr>
            <a:lvl6pPr>
              <a:defRPr sz="2100" b="1">
                <a:solidFill>
                  <a:srgbClr val="102A43"/>
                </a:solidFill>
                <a:latin typeface="Arial"/>
                <a:ea typeface="Arial"/>
                <a:cs typeface="Arial"/>
              </a:defRPr>
            </a:lvl6pPr>
            <a:lvl7pPr>
              <a:defRPr sz="2100" b="1">
                <a:solidFill>
                  <a:srgbClr val="102A43"/>
                </a:solidFill>
                <a:latin typeface="Arial"/>
                <a:ea typeface="Arial"/>
                <a:cs typeface="Arial"/>
              </a:defRPr>
            </a:lvl7pPr>
            <a:lvl8pPr>
              <a:defRPr sz="2100" b="1">
                <a:solidFill>
                  <a:srgbClr val="102A43"/>
                </a:solidFill>
                <a:latin typeface="Arial"/>
                <a:ea typeface="Arial"/>
                <a:cs typeface="Arial"/>
              </a:defRPr>
            </a:lvl8pPr>
            <a:lvl9pPr>
              <a:defRPr sz="2100" b="1">
                <a:solidFill>
                  <a:srgbClr val="102A43"/>
                </a:solidFill>
                <a:latin typeface="Arial"/>
                <a:ea typeface="Arial"/>
                <a:cs typeface="Arial"/>
              </a:defRPr>
            </a:lvl9pPr>
          </a:lstStyle>
          <a:p>
            <a:pPr>
              <a:defRPr sz="2100" b="1">
                <a:solidFill>
                  <a:srgbClr val="102A43"/>
                </a:solidFill>
                <a:latin typeface="Arial"/>
                <a:ea typeface="Arial"/>
                <a:cs typeface="Arial"/>
              </a:defRPr>
            </a:pPr>
            <a:r>
              <a:rPr sz="2100" b="1">
                <a:solidFill>
                  <a:srgbClr val="102A43"/>
                </a:solidFill>
                <a:latin typeface="Arial"/>
                <a:ea typeface="Arial"/>
                <a:cs typeface="Arial"/>
              </a:rPr>
              <a:t>The project delivered a coherent local request-management application and supporting engineering evidence.</a:t>
            </a:r>
          </a:p>
        </p:txBody>
      </p:sp>
      <p:sp>
        <p:nvSpPr>
          <p:cNvPr id="7" name="Rectangle 6">
            <a:extLst>
              <a:ext uri="{FF2B5EF4-FFF2-40B4-BE49-F238E27FC236}">
                <a16:creationId xmlns:a16="http://schemas.microsoft.com/office/drawing/2014/main" id="{9B8A2B97-E9E4-4942-A705-1D2FAC0B1280}"/>
              </a:ext>
            </a:extLst>
          </p:cNvPr>
          <p:cNvSpPr>
            <a:spLocks noGrp="1"/>
          </p:cNvSpPr>
          <p:nvPr/>
        </p:nvSpPr>
        <p:spPr>
          <a:xfrm>
            <a:off x="742950" y="270510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01</a:t>
            </a:r>
          </a:p>
        </p:txBody>
      </p:sp>
      <p:sp>
        <p:nvSpPr>
          <p:cNvPr id="8" name="Rectangle 7">
            <a:extLst>
              <a:ext uri="{FF2B5EF4-FFF2-40B4-BE49-F238E27FC236}">
                <a16:creationId xmlns:a16="http://schemas.microsoft.com/office/drawing/2014/main" id="{98BA8B27-00B8-4630-B78C-205D3D572B74}"/>
              </a:ext>
            </a:extLst>
          </p:cNvPr>
          <p:cNvSpPr>
            <a:spLocks noGrp="1"/>
          </p:cNvSpPr>
          <p:nvPr/>
        </p:nvSpPr>
        <p:spPr>
          <a:xfrm>
            <a:off x="1371600" y="270510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Outcome</a:t>
            </a:r>
          </a:p>
        </p:txBody>
      </p:sp>
      <p:sp>
        <p:nvSpPr>
          <p:cNvPr id="9" name="Rectangle 8">
            <a:extLst>
              <a:ext uri="{FF2B5EF4-FFF2-40B4-BE49-F238E27FC236}">
                <a16:creationId xmlns:a16="http://schemas.microsoft.com/office/drawing/2014/main" id="{5ED7C6FD-F9FE-40D1-913A-8EC3C3A135E0}"/>
              </a:ext>
            </a:extLst>
          </p:cNvPr>
          <p:cNvSpPr>
            <a:spLocks noGrp="1"/>
          </p:cNvSpPr>
          <p:nvPr/>
        </p:nvSpPr>
        <p:spPr>
          <a:xfrm>
            <a:off x="1371600" y="307657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The requirement-level completion score is 80%, with critical omissions disclosed.</a:t>
            </a:r>
          </a:p>
        </p:txBody>
      </p:sp>
      <p:sp>
        <p:nvSpPr>
          <p:cNvPr id="10" name="Rectangle 9">
            <a:extLst>
              <a:ext uri="{FF2B5EF4-FFF2-40B4-BE49-F238E27FC236}">
                <a16:creationId xmlns:a16="http://schemas.microsoft.com/office/drawing/2014/main" id="{869DF63B-5387-4693-BD3E-850CDDF85530}"/>
              </a:ext>
            </a:extLst>
          </p:cNvPr>
          <p:cNvSpPr>
            <a:spLocks noGrp="1"/>
          </p:cNvSpPr>
          <p:nvPr/>
        </p:nvSpPr>
        <p:spPr>
          <a:xfrm>
            <a:off x="742950" y="3943350"/>
            <a:ext cx="495300" cy="361950"/>
          </a:xfrm>
          <a:prstGeom prst="rect">
            <a:avLst/>
          </a:prstGeom>
          <a:noFill/>
          <a:ln w="0">
            <a:noFill/>
            <a:prstDash val="solid"/>
          </a:ln>
        </p:spPr>
        <p:txBody>
          <a:bodyPr>
            <a:normAutofit fontScale="98611"/>
          </a:bodyPr>
          <a:lstStyle>
            <a:defPPr>
              <a:defRPr sz="1800" b="1">
                <a:solidFill>
                  <a:srgbClr val="087E8B"/>
                </a:solidFill>
                <a:latin typeface="Arial"/>
                <a:ea typeface="Arial"/>
                <a:cs typeface="Arial"/>
              </a:defRPr>
            </a:defPPr>
            <a:lvl1pPr>
              <a:defRPr sz="1800" b="1">
                <a:solidFill>
                  <a:srgbClr val="087E8B"/>
                </a:solidFill>
                <a:latin typeface="Arial"/>
                <a:ea typeface="Arial"/>
                <a:cs typeface="Arial"/>
              </a:defRPr>
            </a:lvl1pPr>
            <a:lvl2pPr>
              <a:defRPr sz="1800" b="1">
                <a:solidFill>
                  <a:srgbClr val="087E8B"/>
                </a:solidFill>
                <a:latin typeface="Arial"/>
                <a:ea typeface="Arial"/>
                <a:cs typeface="Arial"/>
              </a:defRPr>
            </a:lvl2pPr>
            <a:lvl3pPr>
              <a:defRPr sz="1800" b="1">
                <a:solidFill>
                  <a:srgbClr val="087E8B"/>
                </a:solidFill>
                <a:latin typeface="Arial"/>
                <a:ea typeface="Arial"/>
                <a:cs typeface="Arial"/>
              </a:defRPr>
            </a:lvl3pPr>
            <a:lvl4pPr>
              <a:defRPr sz="1800" b="1">
                <a:solidFill>
                  <a:srgbClr val="087E8B"/>
                </a:solidFill>
                <a:latin typeface="Arial"/>
                <a:ea typeface="Arial"/>
                <a:cs typeface="Arial"/>
              </a:defRPr>
            </a:lvl4pPr>
            <a:lvl5pPr>
              <a:defRPr sz="1800" b="1">
                <a:solidFill>
                  <a:srgbClr val="087E8B"/>
                </a:solidFill>
                <a:latin typeface="Arial"/>
                <a:ea typeface="Arial"/>
                <a:cs typeface="Arial"/>
              </a:defRPr>
            </a:lvl5pPr>
            <a:lvl6pPr>
              <a:defRPr sz="1800" b="1">
                <a:solidFill>
                  <a:srgbClr val="087E8B"/>
                </a:solidFill>
                <a:latin typeface="Arial"/>
                <a:ea typeface="Arial"/>
                <a:cs typeface="Arial"/>
              </a:defRPr>
            </a:lvl6pPr>
            <a:lvl7pPr>
              <a:defRPr sz="1800" b="1">
                <a:solidFill>
                  <a:srgbClr val="087E8B"/>
                </a:solidFill>
                <a:latin typeface="Arial"/>
                <a:ea typeface="Arial"/>
                <a:cs typeface="Arial"/>
              </a:defRPr>
            </a:lvl7pPr>
            <a:lvl8pPr>
              <a:defRPr sz="1800" b="1">
                <a:solidFill>
                  <a:srgbClr val="087E8B"/>
                </a:solidFill>
                <a:latin typeface="Arial"/>
                <a:ea typeface="Arial"/>
                <a:cs typeface="Arial"/>
              </a:defRPr>
            </a:lvl8pPr>
            <a:lvl9pPr>
              <a:defRPr sz="1800" b="1">
                <a:solidFill>
                  <a:srgbClr val="087E8B"/>
                </a:solidFill>
                <a:latin typeface="Arial"/>
                <a:ea typeface="Arial"/>
                <a:cs typeface="Arial"/>
              </a:defRPr>
            </a:lvl9pPr>
          </a:lstStyle>
          <a:p>
            <a:pPr>
              <a:defRPr sz="1800" b="1">
                <a:solidFill>
                  <a:srgbClr val="087E8B"/>
                </a:solidFill>
                <a:latin typeface="Arial"/>
                <a:ea typeface="Arial"/>
                <a:cs typeface="Arial"/>
              </a:defRPr>
            </a:pPr>
            <a:r>
              <a:rPr sz="1800" b="1">
                <a:solidFill>
                  <a:srgbClr val="087E8B"/>
                </a:solidFill>
                <a:latin typeface="Arial"/>
                <a:ea typeface="Arial"/>
                <a:cs typeface="Arial"/>
              </a:rPr>
              <a:t>02</a:t>
            </a:r>
          </a:p>
        </p:txBody>
      </p:sp>
      <p:sp>
        <p:nvSpPr>
          <p:cNvPr id="11" name="Rectangle 10">
            <a:extLst>
              <a:ext uri="{FF2B5EF4-FFF2-40B4-BE49-F238E27FC236}">
                <a16:creationId xmlns:a16="http://schemas.microsoft.com/office/drawing/2014/main" id="{D32B3D98-DE81-4CFE-B7EE-09DEAAAA3260}"/>
              </a:ext>
            </a:extLst>
          </p:cNvPr>
          <p:cNvSpPr>
            <a:spLocks noGrp="1"/>
          </p:cNvSpPr>
          <p:nvPr/>
        </p:nvSpPr>
        <p:spPr>
          <a:xfrm>
            <a:off x="1371600" y="3943350"/>
            <a:ext cx="9906000" cy="323850"/>
          </a:xfrm>
          <a:prstGeom prst="rect">
            <a:avLst/>
          </a:prstGeom>
          <a:noFill/>
          <a:ln w="0">
            <a:noFill/>
            <a:prstDash val="solid"/>
          </a:ln>
        </p:spPr>
        <p:txBody>
          <a:bodyPr>
            <a:normAutofit fontScale="84722"/>
          </a:bodyPr>
          <a:lstStyle>
            <a:defPPr>
              <a:defRPr sz="1800" b="1">
                <a:solidFill>
                  <a:srgbClr val="102A43"/>
                </a:solidFill>
                <a:latin typeface="Arial"/>
                <a:ea typeface="Arial"/>
                <a:cs typeface="Arial"/>
              </a:defRPr>
            </a:defPPr>
            <a:lvl1pPr>
              <a:defRPr sz="1800" b="1">
                <a:solidFill>
                  <a:srgbClr val="102A43"/>
                </a:solidFill>
                <a:latin typeface="Arial"/>
                <a:ea typeface="Arial"/>
                <a:cs typeface="Arial"/>
              </a:defRPr>
            </a:lvl1pPr>
            <a:lvl2pPr>
              <a:defRPr sz="1800" b="1">
                <a:solidFill>
                  <a:srgbClr val="102A43"/>
                </a:solidFill>
                <a:latin typeface="Arial"/>
                <a:ea typeface="Arial"/>
                <a:cs typeface="Arial"/>
              </a:defRPr>
            </a:lvl2pPr>
            <a:lvl3pPr>
              <a:defRPr sz="1800" b="1">
                <a:solidFill>
                  <a:srgbClr val="102A43"/>
                </a:solidFill>
                <a:latin typeface="Arial"/>
                <a:ea typeface="Arial"/>
                <a:cs typeface="Arial"/>
              </a:defRPr>
            </a:lvl3pPr>
            <a:lvl4pPr>
              <a:defRPr sz="1800" b="1">
                <a:solidFill>
                  <a:srgbClr val="102A43"/>
                </a:solidFill>
                <a:latin typeface="Arial"/>
                <a:ea typeface="Arial"/>
                <a:cs typeface="Arial"/>
              </a:defRPr>
            </a:lvl4pPr>
            <a:lvl5pPr>
              <a:defRPr sz="1800" b="1">
                <a:solidFill>
                  <a:srgbClr val="102A43"/>
                </a:solidFill>
                <a:latin typeface="Arial"/>
                <a:ea typeface="Arial"/>
                <a:cs typeface="Arial"/>
              </a:defRPr>
            </a:lvl5pPr>
            <a:lvl6pPr>
              <a:defRPr sz="1800" b="1">
                <a:solidFill>
                  <a:srgbClr val="102A43"/>
                </a:solidFill>
                <a:latin typeface="Arial"/>
                <a:ea typeface="Arial"/>
                <a:cs typeface="Arial"/>
              </a:defRPr>
            </a:lvl6pPr>
            <a:lvl7pPr>
              <a:defRPr sz="1800" b="1">
                <a:solidFill>
                  <a:srgbClr val="102A43"/>
                </a:solidFill>
                <a:latin typeface="Arial"/>
                <a:ea typeface="Arial"/>
                <a:cs typeface="Arial"/>
              </a:defRPr>
            </a:lvl7pPr>
            <a:lvl8pPr>
              <a:defRPr sz="1800" b="1">
                <a:solidFill>
                  <a:srgbClr val="102A43"/>
                </a:solidFill>
                <a:latin typeface="Arial"/>
                <a:ea typeface="Arial"/>
                <a:cs typeface="Arial"/>
              </a:defRPr>
            </a:lvl8pPr>
            <a:lvl9pPr>
              <a:defRPr sz="1800" b="1">
                <a:solidFill>
                  <a:srgbClr val="102A43"/>
                </a:solidFill>
                <a:latin typeface="Arial"/>
                <a:ea typeface="Arial"/>
                <a:cs typeface="Arial"/>
              </a:defRPr>
            </a:lvl9pPr>
          </a:lstStyle>
          <a:p>
            <a:pPr>
              <a:defRPr sz="1800" b="1">
                <a:solidFill>
                  <a:srgbClr val="102A43"/>
                </a:solidFill>
                <a:latin typeface="Arial"/>
                <a:ea typeface="Arial"/>
                <a:cs typeface="Arial"/>
              </a:defRPr>
            </a:pPr>
            <a:r>
              <a:rPr sz="1800" b="1">
                <a:solidFill>
                  <a:srgbClr val="102A43"/>
                </a:solidFill>
                <a:latin typeface="Arial"/>
                <a:ea typeface="Arial"/>
                <a:cs typeface="Arial"/>
              </a:rPr>
              <a:t>Decision</a:t>
            </a:r>
          </a:p>
        </p:txBody>
      </p:sp>
      <p:sp>
        <p:nvSpPr>
          <p:cNvPr id="12" name="Rectangle 11">
            <a:extLst>
              <a:ext uri="{FF2B5EF4-FFF2-40B4-BE49-F238E27FC236}">
                <a16:creationId xmlns:a16="http://schemas.microsoft.com/office/drawing/2014/main" id="{E46F5C79-5F2A-444D-808F-FAEC80DCAADF}"/>
              </a:ext>
            </a:extLst>
          </p:cNvPr>
          <p:cNvSpPr>
            <a:spLocks noGrp="1"/>
          </p:cNvSpPr>
          <p:nvPr/>
        </p:nvSpPr>
        <p:spPr>
          <a:xfrm>
            <a:off x="1371600" y="4314825"/>
            <a:ext cx="9906000" cy="590550"/>
          </a:xfrm>
          <a:prstGeom prst="rect">
            <a:avLst/>
          </a:prstGeom>
          <a:noFill/>
          <a:ln w="0">
            <a:noFill/>
            <a:prstDash val="solid"/>
          </a:ln>
        </p:spPr>
        <p:txBody>
          <a:bodyPr>
            <a:normAutofit/>
          </a:bodyPr>
          <a:lstStyle>
            <a:defPPr>
              <a:defRPr sz="1500" b="0">
                <a:solidFill>
                  <a:srgbClr val="172B3A"/>
                </a:solidFill>
                <a:latin typeface="Arial"/>
                <a:ea typeface="Arial"/>
                <a:cs typeface="Arial"/>
              </a:defRPr>
            </a:defPPr>
            <a:lvl1pPr>
              <a:defRPr sz="1500" b="0">
                <a:solidFill>
                  <a:srgbClr val="172B3A"/>
                </a:solidFill>
                <a:latin typeface="Arial"/>
                <a:ea typeface="Arial"/>
                <a:cs typeface="Arial"/>
              </a:defRPr>
            </a:lvl1pPr>
            <a:lvl2pPr>
              <a:defRPr sz="1500" b="0">
                <a:solidFill>
                  <a:srgbClr val="172B3A"/>
                </a:solidFill>
                <a:latin typeface="Arial"/>
                <a:ea typeface="Arial"/>
                <a:cs typeface="Arial"/>
              </a:defRPr>
            </a:lvl2pPr>
            <a:lvl3pPr>
              <a:defRPr sz="1500" b="0">
                <a:solidFill>
                  <a:srgbClr val="172B3A"/>
                </a:solidFill>
                <a:latin typeface="Arial"/>
                <a:ea typeface="Arial"/>
                <a:cs typeface="Arial"/>
              </a:defRPr>
            </a:lvl3pPr>
            <a:lvl4pPr>
              <a:defRPr sz="1500" b="0">
                <a:solidFill>
                  <a:srgbClr val="172B3A"/>
                </a:solidFill>
                <a:latin typeface="Arial"/>
                <a:ea typeface="Arial"/>
                <a:cs typeface="Arial"/>
              </a:defRPr>
            </a:lvl4pPr>
            <a:lvl5pPr>
              <a:defRPr sz="1500" b="0">
                <a:solidFill>
                  <a:srgbClr val="172B3A"/>
                </a:solidFill>
                <a:latin typeface="Arial"/>
                <a:ea typeface="Arial"/>
                <a:cs typeface="Arial"/>
              </a:defRPr>
            </a:lvl5pPr>
            <a:lvl6pPr>
              <a:defRPr sz="1500" b="0">
                <a:solidFill>
                  <a:srgbClr val="172B3A"/>
                </a:solidFill>
                <a:latin typeface="Arial"/>
                <a:ea typeface="Arial"/>
                <a:cs typeface="Arial"/>
              </a:defRPr>
            </a:lvl6pPr>
            <a:lvl7pPr>
              <a:defRPr sz="1500" b="0">
                <a:solidFill>
                  <a:srgbClr val="172B3A"/>
                </a:solidFill>
                <a:latin typeface="Arial"/>
                <a:ea typeface="Arial"/>
                <a:cs typeface="Arial"/>
              </a:defRPr>
            </a:lvl7pPr>
            <a:lvl8pPr>
              <a:defRPr sz="1500" b="0">
                <a:solidFill>
                  <a:srgbClr val="172B3A"/>
                </a:solidFill>
                <a:latin typeface="Arial"/>
                <a:ea typeface="Arial"/>
                <a:cs typeface="Arial"/>
              </a:defRPr>
            </a:lvl8pPr>
            <a:lvl9pPr>
              <a:defRPr sz="1500" b="0">
                <a:solidFill>
                  <a:srgbClr val="172B3A"/>
                </a:solidFill>
                <a:latin typeface="Arial"/>
                <a:ea typeface="Arial"/>
                <a:cs typeface="Arial"/>
              </a:defRPr>
            </a:lvl9pPr>
          </a:lstStyle>
          <a:p>
            <a:pPr>
              <a:defRPr sz="1500" b="0">
                <a:solidFill>
                  <a:srgbClr val="172B3A"/>
                </a:solidFill>
                <a:latin typeface="Arial"/>
                <a:ea typeface="Arial"/>
                <a:cs typeface="Arial"/>
              </a:defRPr>
            </a:pPr>
            <a:r>
              <a:rPr sz="1500" b="0">
                <a:solidFill>
                  <a:srgbClr val="172B3A"/>
                </a:solidFill>
                <a:latin typeface="Arial"/>
                <a:ea typeface="Arial"/>
                <a:cs typeface="Arial"/>
              </a:rPr>
              <a:t>Production remains no-go until reliability, usability and availability evidence supports release.</a:t>
            </a:r>
          </a:p>
        </p:txBody>
      </p:sp>
      <p:sp>
        <p:nvSpPr>
          <p:cNvPr id="16" name="Rectangle 15">
            <a:extLst>
              <a:ext uri="{FF2B5EF4-FFF2-40B4-BE49-F238E27FC236}">
                <a16:creationId xmlns:a16="http://schemas.microsoft.com/office/drawing/2014/main" id="{983A35D6-2EDD-40AC-9C20-719F10EA519E}"/>
              </a:ext>
            </a:extLst>
          </p:cNvPr>
          <p:cNvSpPr>
            <a:spLocks noGrp="1"/>
          </p:cNvSpPr>
          <p:nvPr/>
        </p:nvSpPr>
        <p:spPr>
          <a:xfrm>
            <a:off x="723900" y="6019800"/>
            <a:ext cx="10477500" cy="285750"/>
          </a:xfrm>
          <a:prstGeom prst="rect">
            <a:avLst/>
          </a:prstGeom>
          <a:noFill/>
          <a:ln w="0">
            <a:noFill/>
            <a:prstDash val="solid"/>
          </a:ln>
        </p:spPr>
        <p:txBody>
          <a:bodyPr>
            <a:normAutofit/>
          </a:bodyPr>
          <a:lstStyle>
            <a:defPPr>
              <a:defRPr sz="1275" b="0">
                <a:solidFill>
                  <a:srgbClr val="536575"/>
                </a:solidFill>
                <a:latin typeface="Arial"/>
                <a:ea typeface="Arial"/>
                <a:cs typeface="Arial"/>
              </a:defRPr>
            </a:defPPr>
            <a:lvl1pPr>
              <a:defRPr sz="1275" b="0">
                <a:solidFill>
                  <a:srgbClr val="536575"/>
                </a:solidFill>
                <a:latin typeface="Arial"/>
                <a:ea typeface="Arial"/>
                <a:cs typeface="Arial"/>
              </a:defRPr>
            </a:lvl1pPr>
            <a:lvl2pPr>
              <a:defRPr sz="1275" b="0">
                <a:solidFill>
                  <a:srgbClr val="536575"/>
                </a:solidFill>
                <a:latin typeface="Arial"/>
                <a:ea typeface="Arial"/>
                <a:cs typeface="Arial"/>
              </a:defRPr>
            </a:lvl2pPr>
            <a:lvl3pPr>
              <a:defRPr sz="1275" b="0">
                <a:solidFill>
                  <a:srgbClr val="536575"/>
                </a:solidFill>
                <a:latin typeface="Arial"/>
                <a:ea typeface="Arial"/>
                <a:cs typeface="Arial"/>
              </a:defRPr>
            </a:lvl3pPr>
            <a:lvl4pPr>
              <a:defRPr sz="1275" b="0">
                <a:solidFill>
                  <a:srgbClr val="536575"/>
                </a:solidFill>
                <a:latin typeface="Arial"/>
                <a:ea typeface="Arial"/>
                <a:cs typeface="Arial"/>
              </a:defRPr>
            </a:lvl4pPr>
            <a:lvl5pPr>
              <a:defRPr sz="1275" b="0">
                <a:solidFill>
                  <a:srgbClr val="536575"/>
                </a:solidFill>
                <a:latin typeface="Arial"/>
                <a:ea typeface="Arial"/>
                <a:cs typeface="Arial"/>
              </a:defRPr>
            </a:lvl5pPr>
            <a:lvl6pPr>
              <a:defRPr sz="1275" b="0">
                <a:solidFill>
                  <a:srgbClr val="536575"/>
                </a:solidFill>
                <a:latin typeface="Arial"/>
                <a:ea typeface="Arial"/>
                <a:cs typeface="Arial"/>
              </a:defRPr>
            </a:lvl6pPr>
            <a:lvl7pPr>
              <a:defRPr sz="1275" b="0">
                <a:solidFill>
                  <a:srgbClr val="536575"/>
                </a:solidFill>
                <a:latin typeface="Arial"/>
                <a:ea typeface="Arial"/>
                <a:cs typeface="Arial"/>
              </a:defRPr>
            </a:lvl7pPr>
            <a:lvl8pPr>
              <a:defRPr sz="1275" b="0">
                <a:solidFill>
                  <a:srgbClr val="536575"/>
                </a:solidFill>
                <a:latin typeface="Arial"/>
                <a:ea typeface="Arial"/>
                <a:cs typeface="Arial"/>
              </a:defRPr>
            </a:lvl8pPr>
            <a:lvl9pPr>
              <a:defRPr sz="1275" b="0">
                <a:solidFill>
                  <a:srgbClr val="536575"/>
                </a:solidFill>
                <a:latin typeface="Arial"/>
                <a:ea typeface="Arial"/>
                <a:cs typeface="Arial"/>
              </a:defRPr>
            </a:lvl9pPr>
          </a:lstStyle>
          <a:p>
            <a:pPr>
              <a:defRPr sz="1275" b="0">
                <a:solidFill>
                  <a:srgbClr val="536575"/>
                </a:solidFill>
                <a:latin typeface="Arial"/>
                <a:ea typeface="Arial"/>
                <a:cs typeface="Arial"/>
              </a:defRPr>
            </a:pPr>
            <a:r>
              <a:rPr sz="1275" b="0">
                <a:solidFill>
                  <a:srgbClr val="536575"/>
                </a:solidFill>
                <a:latin typeface="Arial"/>
                <a:ea typeface="Arial"/>
                <a:cs typeface="Arial"/>
              </a:rPr>
              <a:t>Next evidence: the M4 documentation merge SHA and genuine final team review records.</a:t>
            </a:r>
          </a:p>
        </p:txBody>
      </p:sp>
    </p:spTree>
    <p:extLst>
      <p:ext uri="{BB962C8B-B14F-4D97-AF65-F5344CB8AC3E}">
        <p14:creationId xmlns:p14="http://schemas.microsoft.com/office/powerpoint/2010/main" val="12372345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1878</Words>
  <Application>Microsoft Office PowerPoint</Application>
  <DocSecurity>0</DocSecurity>
  <PresentationFormat>Widescreen</PresentationFormat>
  <Paragraphs>188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Jacobus Petrus Geldenhuys</cp:lastModifiedBy>
  <cp:revision>1</cp:revision>
  <dcterms:created xsi:type="dcterms:W3CDTF">2026-10-17T11:08:43Z</dcterms:created>
  <dcterms:modified xsi:type="dcterms:W3CDTF">2026-10-17T11:22:14Z</dcterms:modified>
</cp:coreProperties>
</file>