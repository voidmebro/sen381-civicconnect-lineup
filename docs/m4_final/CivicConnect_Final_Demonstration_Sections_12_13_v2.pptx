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a9389190a4f38" /><Relationship Type="http://schemas.openxmlformats.org/officeDocument/2006/relationships/extended-properties" Target="/docProps/app.xml" Id="R095e874d585c4c66" /><Relationship Type="http://schemas.openxmlformats.org/officeDocument/2006/relationships/officeDocument" Target="/ppt/presentation.xml" Id="Rb070accb6b2c48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da6f07193458e"/>
  </p:sldMasterIdLst>
  <p:notesMasterIdLst>
    <p:notesMasterId xmlns:r="http://schemas.openxmlformats.org/officeDocument/2006/relationships" r:id="R9e5ff546ce964790"/>
  </p:notesMasterIdLst>
  <p:sldIdLst>
    <p:sldId xmlns:r="http://schemas.openxmlformats.org/officeDocument/2006/relationships" id="256" r:id="R355711b3fee24a03"/>
    <p:sldId xmlns:r="http://schemas.openxmlformats.org/officeDocument/2006/relationships" id="257" r:id="R5471cb62f283467d"/>
    <p:sldId xmlns:r="http://schemas.openxmlformats.org/officeDocument/2006/relationships" id="258" r:id="R2bc1cdb0638a4ec3"/>
    <p:sldId xmlns:r="http://schemas.openxmlformats.org/officeDocument/2006/relationships" id="259" r:id="Rd8bb3c44e4ef4f13"/>
    <p:sldId xmlns:r="http://schemas.openxmlformats.org/officeDocument/2006/relationships" id="260" r:id="Rb4d7f140bd544167"/>
    <p:sldId xmlns:r="http://schemas.openxmlformats.org/officeDocument/2006/relationships" id="261" r:id="Rc8b673d4ff1f4fc0"/>
    <p:sldId xmlns:r="http://schemas.openxmlformats.org/officeDocument/2006/relationships" id="262" r:id="R429df4bb31fe4c95"/>
    <p:sldId xmlns:r="http://schemas.openxmlformats.org/officeDocument/2006/relationships" id="263" r:id="Raa68265a35ad4858"/>
    <p:sldId xmlns:r="http://schemas.openxmlformats.org/officeDocument/2006/relationships" id="264" r:id="R6580663a5ccd4194"/>
    <p:sldId xmlns:r="http://schemas.openxmlformats.org/officeDocument/2006/relationships" id="265" r:id="R8ea3617c7c8042e2"/>
    <p:sldId xmlns:r="http://schemas.openxmlformats.org/officeDocument/2006/relationships" id="266" r:id="R66ca2c41ad104eb1"/>
    <p:sldId xmlns:r="http://schemas.openxmlformats.org/officeDocument/2006/relationships" id="267" r:id="R3ea9fb14ea39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4a37b161a4d14" /><Relationship Type="http://schemas.openxmlformats.org/officeDocument/2006/relationships/slideMaster" Target="/ppt/slideMasters/slideMaster1.xml" Id="R181da6f07193458e" /><Relationship Type="http://schemas.openxmlformats.org/officeDocument/2006/relationships/notesMaster" Target="/ppt/notesMasters/notesMaster1.xml" Id="R9e5ff546ce964790" /><Relationship Type="http://schemas.openxmlformats.org/officeDocument/2006/relationships/presProps" Target="/ppt/presProps.xml" Id="R303494017e204bff" /><Relationship Type="http://schemas.openxmlformats.org/officeDocument/2006/relationships/tableStyles" Target="/ppt/tableStyles.xml" Id="R7d527711ceca4c40" /><Relationship Type="http://schemas.openxmlformats.org/officeDocument/2006/relationships/slide" Target="/ppt/slides/slide1.xml" Id="R355711b3fee24a03" /><Relationship Type="http://schemas.openxmlformats.org/officeDocument/2006/relationships/slide" Target="/ppt/slides/slide2.xml" Id="R5471cb62f283467d" /><Relationship Type="http://schemas.openxmlformats.org/officeDocument/2006/relationships/slide" Target="/ppt/slides/slide3.xml" Id="R2bc1cdb0638a4ec3" /><Relationship Type="http://schemas.openxmlformats.org/officeDocument/2006/relationships/slide" Target="/ppt/slides/slide4.xml" Id="Rd8bb3c44e4ef4f13" /><Relationship Type="http://schemas.openxmlformats.org/officeDocument/2006/relationships/slide" Target="/ppt/slides/slide5.xml" Id="Rb4d7f140bd544167" /><Relationship Type="http://schemas.openxmlformats.org/officeDocument/2006/relationships/slide" Target="/ppt/slides/slide6.xml" Id="Rc8b673d4ff1f4fc0" /><Relationship Type="http://schemas.openxmlformats.org/officeDocument/2006/relationships/slide" Target="/ppt/slides/slide7.xml" Id="R429df4bb31fe4c95" /><Relationship Type="http://schemas.openxmlformats.org/officeDocument/2006/relationships/slide" Target="/ppt/slides/slide8.xml" Id="Raa68265a35ad4858" /><Relationship Type="http://schemas.openxmlformats.org/officeDocument/2006/relationships/slide" Target="/ppt/slides/slide9.xml" Id="R6580663a5ccd4194" /><Relationship Type="http://schemas.openxmlformats.org/officeDocument/2006/relationships/slide" Target="/ppt/slides/slide10.xml" Id="R8ea3617c7c8042e2" /><Relationship Type="http://schemas.openxmlformats.org/officeDocument/2006/relationships/slide" Target="/ppt/slides/slide11.xml" Id="R66ca2c41ad104eb1" /><Relationship Type="http://schemas.openxmlformats.org/officeDocument/2006/relationships/slide" Target="/ppt/slides/slide12.xml" Id="R3ea9fb14ea39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40b2f46d4e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7da0654414599" /><Relationship Type="http://schemas.openxmlformats.org/officeDocument/2006/relationships/notesMaster" Target="/ppt/notesMasters/notesMaster1.xml" Id="Rcceb58014b16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ad25e012644203" /><Relationship Type="http://schemas.openxmlformats.org/officeDocument/2006/relationships/notesMaster" Target="/ppt/notesMasters/notesMaster1.xml" Id="R7bd632fb2de641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826cc67474938" /><Relationship Type="http://schemas.openxmlformats.org/officeDocument/2006/relationships/notesMaster" Target="/ppt/notesMasters/notesMaster1.xml" Id="R4213ede28155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1a5c47b664f10" /><Relationship Type="http://schemas.openxmlformats.org/officeDocument/2006/relationships/notesMaster" Target="/ppt/notesMasters/notesMaster1.xml" Id="R7280d05e936f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4196d5ae54e45" /><Relationship Type="http://schemas.openxmlformats.org/officeDocument/2006/relationships/notesMaster" Target="/ppt/notesMasters/notesMaster1.xml" Id="Raf0d6dcb0d6e43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63f51d56854d26" /><Relationship Type="http://schemas.openxmlformats.org/officeDocument/2006/relationships/notesMaster" Target="/ppt/notesMasters/notesMaster1.xml" Id="Rf9a68fa18e7c42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360808dde5469c" /><Relationship Type="http://schemas.openxmlformats.org/officeDocument/2006/relationships/notesMaster" Target="/ppt/notesMasters/notesMaster1.xml" Id="Rdcad0c37a7a3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19ae3a8f0a432e" /><Relationship Type="http://schemas.openxmlformats.org/officeDocument/2006/relationships/notesMaster" Target="/ppt/notesMasters/notesMaster1.xml" Id="R651d3c93758e43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0e05cce1942d5" /><Relationship Type="http://schemas.openxmlformats.org/officeDocument/2006/relationships/notesMaster" Target="/ppt/notesMasters/notesMaster1.xml" Id="R7901e28ec67a4b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e79d0ad63347fe" /><Relationship Type="http://schemas.openxmlformats.org/officeDocument/2006/relationships/notesMaster" Target="/ppt/notesMasters/notesMaster1.xml" Id="Rcbf311a3739b4b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a294a8c66d48a7" /><Relationship Type="http://schemas.openxmlformats.org/officeDocument/2006/relationships/notesMaster" Target="/ppt/notesMasters/notesMaster1.xml" Id="R248875fa00fd44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2b96b3b1048c0" /><Relationship Type="http://schemas.openxmlformats.org/officeDocument/2006/relationships/notesMaster" Target="/ppt/notesMasters/notesMaster1.xml" Id="R378964fe34bd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1 introduces the final demonstration. A single continuous product capture precedes the slide narration. Keep the baseline visible; do not speak the SHA.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docs/m4_final/Final_Release_Decision.md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 to the single opening demonstration. Do not start a second live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 12; docs/m4_final/Final_RTM.csv; docs/member1_m2/product/README.md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M3 CI is for its recorded baseline, distinct from M4 load evidence. Product use is limited to local academic demonstration with synthetic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Release_Evidence_Summary.md; evidence/website-stage-20261016/staging_load_report.md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M1 status before presenting the calculation. The team reviewed and verified all status references and evidence in the submission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docs/m4_final/Final_RTM.csv; docs/m4_final/Scope_Completion.csv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80% is the approved worksheet calculation at requirement-row level. Do not describe the denominator as a count of atomic acceptance clauses. The detailed conditions remain in the RTM.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 13 scope calculation; docs/m4_final/Scope_Completion.csv; docs/m4_final/Final_RTM.csv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NFR-01 reason in the user-approved wording and explain that team verification is complete. The unmet Must Have remains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docs/m4_final/Final_RTM.csv; docs/m4_final/Scope_Completion.csv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integrated application evidence from the separate lifecycle-slice experiment. DEF-001 is a document heading corrected in PED v3.0; DEF-002 is in the archived M2 pack; DEF-003 belongs to the separate malformed-input lifecycle slice; DEF-004 is the M4 integrated website load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Release_Evidence_Summary.md; registers/Defect_Register.md; docs/member1_m2/evidence/member2-test-results.txt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split result clear: latency passed while reliability failed. The queue explanation is only a hypothesis. No production capacity or public availability claim follows from this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evidence/website-stage-20261016/staging_load_report.md; evidence/website-stage-20261016/staging_load_report.json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production release decision is NO-GO. Local academic demonstration is allowed within the documented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docs/m4_final/Final_Release_Decision.md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to Section 13 criterion E. Team review and evidence verification are complete. The individual defence is separate from the collective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docs/m4_final/CivicConnect_PED_v4.0_Final.pdf; docs/m4_final/Final_RTM.csv; docs/m4_final/Scope_Completion.csv; registers/AI_Usage_Register.md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user-confirmed cost and schedule facts. Do not estimate labor or electricity. Keep the potential load cause unconfirmed.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docs/m4_final/Final_Release_Decision.md; registers/AI_Usage_Register.md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completion within the submitted academic scope, the verified delivery facts, and the final production NO-GO decision. No future action is part of the project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SEN381 FINAL.pdf, Sections 12–13; docs/m4_final/Final_Release_Decision.md; docs/m4_final/Scope_Completion.csv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e5fffd9c842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f6c37fee04d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74f71e2e24e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ec6cde9d74e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b601cfd2144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ed022497244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46F0A-99D6-4080-9A06-0E4649B99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E9DE13-CCC3-45A4-877A-BAE10F3D37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DB1625-A421-487C-BD8D-B36F68A3E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61C5F1-AA5E-43D0-A911-CA14D7E40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A2BDF6-DE50-4A05-A685-26A442D53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F63268-6FC5-4777-8A27-CC9EFFD4E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CBBA08-A41C-46AF-A388-304C8728C8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93A2A8-B9BB-4B37-9C7A-EAE8DAF344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4F57BD-3245-4EAF-BB52-B9F85A8E7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82CFFF-4FF8-4A30-87F1-1C1D5D07FA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b431d1d6e4d01" /><Relationship Type="http://schemas.openxmlformats.org/officeDocument/2006/relationships/slideLayout" Target="/ppt/slideLayouts/slideLayout1.xml" Id="R2f7c882f20084341" /><Relationship Type="http://schemas.openxmlformats.org/officeDocument/2006/relationships/slideLayout" Target="/ppt/slideLayouts/slideLayout2.xml" Id="R5beba3595c2c409a" /><Relationship Type="http://schemas.openxmlformats.org/officeDocument/2006/relationships/slideLayout" Target="/ppt/slideLayouts/slideLayout3.xml" Id="R0a3dd93daa61457d" /><Relationship Type="http://schemas.openxmlformats.org/officeDocument/2006/relationships/slideLayout" Target="/ppt/slideLayouts/slideLayout4.xml" Id="R8e2d003473104846" /><Relationship Type="http://schemas.openxmlformats.org/officeDocument/2006/relationships/slideLayout" Target="/ppt/slideLayouts/slideLayout5.xml" Id="Rc6d91b4602fe4db5" /><Relationship Type="http://schemas.openxmlformats.org/officeDocument/2006/relationships/slideLayout" Target="/ppt/slideLayouts/slideLayout6.xml" Id="Rbf2d2d65c5db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7c882f20084341"/>
    <p:sldLayoutId xmlns:r="http://schemas.openxmlformats.org/officeDocument/2006/relationships" id="2147483650" r:id="R5beba3595c2c409a"/>
    <p:sldLayoutId xmlns:r="http://schemas.openxmlformats.org/officeDocument/2006/relationships" id="2147483651" r:id="R0a3dd93daa61457d"/>
    <p:sldLayoutId xmlns:r="http://schemas.openxmlformats.org/officeDocument/2006/relationships" id="2147483652" r:id="R8e2d003473104846"/>
    <p:sldLayoutId xmlns:r="http://schemas.openxmlformats.org/officeDocument/2006/relationships" id="2147483653" r:id="Rc6d91b4602fe4db5"/>
    <p:sldLayoutId xmlns:r="http://schemas.openxmlformats.org/officeDocument/2006/relationships" id="2147483654" r:id="Rbf2d2d65c5db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0b153fbf74011" /><Relationship Type="http://schemas.openxmlformats.org/officeDocument/2006/relationships/notesSlide" Target="/ppt/notesSlides/notesSlide1.xml" Id="R93eaa5afcb93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ff70f9e624090" /><Relationship Type="http://schemas.openxmlformats.org/officeDocument/2006/relationships/notesSlide" Target="/ppt/notesSlides/notesSlide2.xml" Id="Rc7ff6e19fb5e43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bf3a81a3f48f3" /><Relationship Type="http://schemas.openxmlformats.org/officeDocument/2006/relationships/notesSlide" Target="/ppt/notesSlides/notesSlide3.xml" Id="Rbccb9e4a1e3948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9a17e39be4379" /><Relationship Type="http://schemas.openxmlformats.org/officeDocument/2006/relationships/notesSlide" Target="/ppt/notesSlides/notesSlide4.xml" Id="R2e5e2591bd90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f0f656c684264" /><Relationship Type="http://schemas.openxmlformats.org/officeDocument/2006/relationships/notesSlide" Target="/ppt/notesSlides/notesSlide5.xml" Id="R9b582028b50f49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4688b6e284e83" /><Relationship Type="http://schemas.openxmlformats.org/officeDocument/2006/relationships/notesSlide" Target="/ppt/notesSlides/notesSlide6.xml" Id="Rf115978fe15d4d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fde485caf4da0" /><Relationship Type="http://schemas.openxmlformats.org/officeDocument/2006/relationships/notesSlide" Target="/ppt/notesSlides/notesSlide7.xml" Id="Rc0dea6f7300d47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17bc1651c41e3" /><Relationship Type="http://schemas.openxmlformats.org/officeDocument/2006/relationships/notesSlide" Target="/ppt/notesSlides/notesSlide8.xml" Id="R2665946b09dd4a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a8a2be836417b" /><Relationship Type="http://schemas.openxmlformats.org/officeDocument/2006/relationships/notesSlide" Target="/ppt/notesSlides/notesSlide9.xml" Id="R4e21bec25c3f42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acb4715c34989" /><Relationship Type="http://schemas.openxmlformats.org/officeDocument/2006/relationships/notesSlide" Target="/ppt/notesSlides/notesSlide10.xml" Id="R3b1500f8f37047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06cf525db4e87" /><Relationship Type="http://schemas.openxmlformats.org/officeDocument/2006/relationships/notesSlide" Target="/ppt/notesSlides/notesSlide11.xml" Id="R7aaa9277396049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c2ccae16e40d4" /><Relationship Type="http://schemas.openxmlformats.org/officeDocument/2006/relationships/notesSlide" Target="/ppt/notesSlides/notesSlide12.xml" Id="R79932b8f495d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4FE3495-4396-4332-B170-B9326CFC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2B3E3-CE4B-4653-8DFB-4DBC71E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2D0"/>
                </a:solidFill>
                <a:latin typeface="Arial"/>
                <a:ea typeface="Arial"/>
                <a:cs typeface="Arial"/>
              </a:rPr>
              <a:t>CIVICCONNECT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1B749-7A56-425A-893E-CE81875A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923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project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3D629-2366-46C4-BA77-C88FA49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CE6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6EC"/>
                </a:solidFill>
                <a:latin typeface="Arial"/>
                <a:ea typeface="Arial"/>
                <a:cs typeface="Arial"/>
              </a:rPr>
              <a:t>SEN381  |  Final product, scope, evidence and project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96BF8-8996-4CBF-B868-E80D5F3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academic build  •  Synthetic data  •  Production decision: NO-GO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D5718-EB30-4086-A5C0-4EAE166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2D0"/>
                </a:solidFill>
                <a:latin typeface="Arial"/>
                <a:ea typeface="Arial"/>
                <a:cs typeface="Arial"/>
              </a:rPr>
              <a:t>ASSESSED APPLICATION AND EVIDENCE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1DE20-6A1F-4440-89FA-969065E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c8fcc9887d58bc07e7b592e292dbe05222d97190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C9406-2836-4BCA-B4BD-ED71544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86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1"/>
                </a:solidFill>
                <a:latin typeface="Arial"/>
                <a:ea typeface="Arial"/>
                <a:cs typeface="Arial"/>
              </a:rPr>
              <a:t>CivicConnect final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20192-1F18-4469-9207-C2C763E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591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B3C75DA3-E33C-4BA4-ADB8-02DF81F9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0A5D13-F305-464C-B314-5580B386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FINAL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34441-8730-4E1A-9385-ACF45C43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Combined critical journeys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2047AC-4786-40C6-9E59-9BF2C4C5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99E6F1F-78C8-4E17-9ED6-4F409A3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A99A5E-C7CA-4102-844C-5CBB691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C5F1B-0B9C-4EA7-A047-48106F1B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CITIZEN</a:t>
            </a:r>
          </a:p>
        </p:txBody>
      </p:sp>
      <p:sp>
        <p:nvSpPr>
          <p:cNvPr id="8" name="journey-0">
            <a:extLst xmlns:a="http://schemas.openxmlformats.org/drawingml/2006/main">
              <a:ext uri="{FF2B5EF4-FFF2-40B4-BE49-F238E27FC236}">
                <a16:creationId xmlns:a16="http://schemas.microsoft.com/office/drawing/2014/main" id="{3B27792C-CCFD-4880-8AF7-902BA4D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FF38E-6CFF-40E8-8874-AFF10EA4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Register or sign in.</a:t>
            </a:r>
          </a:p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Submit a validated request.</a:t>
            </a:r>
          </a:p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Review its reference, status and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AFE35-3FF0-413E-A803-6C38B834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11" name="journey-1">
            <a:extLst xmlns:a="http://schemas.openxmlformats.org/drawingml/2006/main">
              <a:ext uri="{FF2B5EF4-FFF2-40B4-BE49-F238E27FC236}">
                <a16:creationId xmlns:a16="http://schemas.microsoft.com/office/drawing/2014/main" id="{24B352DB-25F7-4D88-9C2A-CA06F81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4B4A5-F6C7-4BB7-AE32-F232AB9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Open the authorised department queue.</a:t>
            </a:r>
          </a:p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Find and assign a request.</a:t>
            </a:r>
          </a:p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Record a permitted lifecycle 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67C3D-99FF-46EF-8F71-CE114506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751E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14" name="journey-2">
            <a:extLst xmlns:a="http://schemas.openxmlformats.org/drawingml/2006/main">
              <a:ext uri="{FF2B5EF4-FFF2-40B4-BE49-F238E27FC236}">
                <a16:creationId xmlns:a16="http://schemas.microsoft.com/office/drawing/2014/main" id="{73D7DBEC-B3C8-4091-910E-012B248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8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9A5D8-14B3-41D4-BD7B-0F94FC09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Review service activity.</a:t>
            </a:r>
          </a:p>
          <a:p xmlns:a="http://schemas.openxmlformats.org/drawingml/2006/main">
            <a:pPr>
              <a:defRPr sz="172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View open, overdue, resolved and closed work.</a:t>
            </a:r>
          </a:p>
        </p:txBody>
      </p:sp>
      <p:sp>
        <p:nvSpPr>
          <p:cNvPr id="16" name="evidence-separator">
            <a:extLst xmlns:a="http://schemas.openxmlformats.org/drawingml/2006/main">
              <a:ext uri="{FF2B5EF4-FFF2-40B4-BE49-F238E27FC236}">
                <a16:creationId xmlns:a16="http://schemas.microsoft.com/office/drawing/2014/main" id="{D016480B-5683-45ED-B0D3-7703FFF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117B9-7D0B-40ED-AF4D-30C7843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One request moves through the citizen, staff and management views.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B1990-C212-4164-A254-6D8786A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The opening recording shows this combined path using synthetic records.</a:t>
            </a:r>
          </a:p>
        </p:txBody>
      </p:sp>
    </p:spTree>
    <p:extLst>
      <p:ext uri="{BB962C8B-B14F-4D97-AF65-F5344CB8AC3E}">
        <p14:creationId xmlns:p14="http://schemas.microsoft.com/office/powerpoint/2010/main" val="431748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101CCA16-AB49-414F-820F-915B2826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E7C96B8-00D2-4F8D-BC89-3B93B454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FINAL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CEFABD-45DF-465C-9E83-98A7EFC9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Product version and operating boundary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60C44B-1492-47F8-B8C8-417D0A1C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03BB444-9E2C-4EBA-85B2-AC0950A4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1B9633-C954-4613-AA91-E4E7068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5F8F4F4-92BE-45D9-98A7-D72E34C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52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8" name="row-copy-1">
            <a:extLst xmlns:a="http://schemas.openxmlformats.org/drawingml/2006/main">
              <a:ext uri="{FF2B5EF4-FFF2-40B4-BE49-F238E27FC236}">
                <a16:creationId xmlns:a16="http://schemas.microsoft.com/office/drawing/2014/main" id="{05741EC8-9EC3-49E8-8BFD-03CBBFD2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145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Server-rendered Python application with local SQLite persistence.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897C7A0C-6511-4232-99F8-882B1A05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652C36A-A38F-4BC1-91B2-17AEF47B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52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Evidence baseline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9314E46A-3273-4C09-8575-81A52B6A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098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The final application and evidence SHA is recorded on slide 1 and in the PED and RTM.</a:t>
            </a:r>
          </a:p>
        </p:txBody>
      </p:sp>
      <p:sp>
        <p:nvSpPr>
          <p:cNvPr id="12" name="row-rule-2">
            <a:extLst xmlns:a="http://schemas.openxmlformats.org/drawingml/2006/main">
              <a:ext uri="{FF2B5EF4-FFF2-40B4-BE49-F238E27FC236}">
                <a16:creationId xmlns:a16="http://schemas.microsoft.com/office/drawing/2014/main" id="{8E038D7F-BCA3-4423-A972-E5CDFC1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3">
            <a:extLst xmlns:a="http://schemas.openxmlformats.org/drawingml/2006/main">
              <a:ext uri="{FF2B5EF4-FFF2-40B4-BE49-F238E27FC236}">
                <a16:creationId xmlns:a16="http://schemas.microsoft.com/office/drawing/2014/main" id="{62AACA31-29DE-4687-848D-43484A4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M3 CI record</a:t>
            </a:r>
          </a:p>
        </p:txBody>
      </p:sp>
      <p:sp>
        <p:nvSpPr>
          <p:cNvPr id="14" name="row-copy-3">
            <a:extLst xmlns:a="http://schemas.openxmlformats.org/drawingml/2006/main">
              <a:ext uri="{FF2B5EF4-FFF2-40B4-BE49-F238E27FC236}">
                <a16:creationId xmlns:a16="http://schemas.microsoft.com/office/drawing/2014/main" id="{FFC5678F-903A-4DD2-A811-2CCFFC40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052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37 tests passed. GitHub Actions passed on its separately identified application commit.</a:t>
            </a:r>
          </a:p>
        </p:txBody>
      </p:sp>
      <p:sp>
        <p:nvSpPr>
          <p:cNvPr id="15" name="row-rule-3">
            <a:extLst xmlns:a="http://schemas.openxmlformats.org/drawingml/2006/main">
              <a:ext uri="{FF2B5EF4-FFF2-40B4-BE49-F238E27FC236}">
                <a16:creationId xmlns:a16="http://schemas.microsoft.com/office/drawing/2014/main" id="{3EEFB4C2-9146-44F7-9E9C-B0D8F23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abel-4">
            <a:extLst xmlns:a="http://schemas.openxmlformats.org/drawingml/2006/main">
              <a:ext uri="{FF2B5EF4-FFF2-40B4-BE49-F238E27FC236}">
                <a16:creationId xmlns:a16="http://schemas.microsoft.com/office/drawing/2014/main" id="{3E97A245-D0DA-438D-86D8-900428BE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52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M4 website checks</a:t>
            </a:r>
          </a:p>
        </p:txBody>
      </p:sp>
      <p:sp>
        <p:nvSpPr>
          <p:cNvPr id="17" name="row-copy-4">
            <a:extLst xmlns:a="http://schemas.openxmlformats.org/drawingml/2006/main">
              <a:ext uri="{FF2B5EF4-FFF2-40B4-BE49-F238E27FC236}">
                <a16:creationId xmlns:a16="http://schemas.microsoft.com/office/drawing/2014/main" id="{29982B19-A070-485E-AB72-51B8FC1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005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9 of 9 functional checks passed on the integrated local website.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900E8-43AE-4FE6-AE19-E774EFD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Local academic use with synthetic data</a:t>
            </a:r>
          </a:p>
        </p:txBody>
      </p:sp>
    </p:spTree>
    <p:extLst>
      <p:ext uri="{BB962C8B-B14F-4D97-AF65-F5344CB8AC3E}">
        <p14:creationId xmlns:p14="http://schemas.microsoft.com/office/powerpoint/2010/main" val="923672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D1C5C045-662B-4939-A7D3-334ED11A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9AA1B4-05D3-4070-857A-D260377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M1 SCOPE TO FINAL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50E8FF-456A-4BBE-9EF2-862D2D2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M1 commitments and final delivery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82EB0C-3FF9-4677-9C5A-F0BEF1A9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B42F46-E100-4319-86EB-8B07D476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49C15E-084C-4921-8C30-73A2123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DB035-D4C2-43EE-BFD8-C084D980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MET</a:t>
            </a:r>
          </a:p>
        </p:txBody>
      </p:sp>
      <p:sp>
        <p:nvSpPr>
          <p:cNvPr id="8" name="status-rule-0">
            <a:extLst xmlns:a="http://schemas.openxmlformats.org/drawingml/2006/main">
              <a:ext uri="{FF2B5EF4-FFF2-40B4-BE49-F238E27FC236}">
                <a16:creationId xmlns:a16="http://schemas.microsoft.com/office/drawing/2014/main" id="{13CD5FAF-3C18-4F9C-8641-2B5ABAE0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5CE7E-F13F-422B-A3F2-0944D0D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FR-01 to FR-13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NFR-02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14 requirement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B5278-EB18-498E-9D4E-2E450E8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751E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1" name="status-rule-1">
            <a:extLst xmlns:a="http://schemas.openxmlformats.org/drawingml/2006/main">
              <a:ext uri="{FF2B5EF4-FFF2-40B4-BE49-F238E27FC236}">
                <a16:creationId xmlns:a16="http://schemas.microsoft.com/office/drawing/2014/main" id="{EBAA34B7-898F-4A7A-B928-4CF89477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14575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5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C0A66-75F6-4D4A-A2C4-D28AFCB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NFR-03, NFR-05,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NFR-06 and NFR-07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4 requirement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A8826-7CC8-4A7C-9573-0EA036F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288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NOT MET</a:t>
            </a:r>
          </a:p>
        </p:txBody>
      </p:sp>
      <p:sp>
        <p:nvSpPr>
          <p:cNvPr id="14" name="status-rule-2">
            <a:extLst xmlns:a="http://schemas.openxmlformats.org/drawingml/2006/main">
              <a:ext uri="{FF2B5EF4-FFF2-40B4-BE49-F238E27FC236}">
                <a16:creationId xmlns:a16="http://schemas.microsoft.com/office/drawing/2014/main" id="{EF94F066-A0D6-4D8B-839E-F5424A4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14575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D1AA8-D2AD-491B-B90F-6129C6DE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9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NFR-01 and NFR-04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2 requirement rows</a:t>
            </a:r>
          </a:p>
          <a:p xmlns:a="http://schemas.openxmlformats.org/drawingml/2006/main">
            <a:pPr>
              <a:defRPr sz="18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Both omissions remain visible</a:t>
            </a:r>
          </a:p>
        </p:txBody>
      </p:sp>
      <p:sp>
        <p:nvSpPr>
          <p:cNvPr id="16" name="scope-rule">
            <a:extLst xmlns:a="http://schemas.openxmlformats.org/drawingml/2006/main">
              <a:ext uri="{FF2B5EF4-FFF2-40B4-BE49-F238E27FC236}">
                <a16:creationId xmlns:a16="http://schemas.microsoft.com/office/drawing/2014/main" id="{4C04713F-DA05-471E-A4C1-4564B77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AD717-CB2D-443A-9091-2AC84A0A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1043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Core citizen, staff and management workflows were implemented and verified for the assessed local paths.</a:t>
            </a:r>
          </a:p>
        </p:txBody>
      </p:sp>
    </p:spTree>
    <p:extLst>
      <p:ext uri="{BB962C8B-B14F-4D97-AF65-F5344CB8AC3E}">
        <p14:creationId xmlns:p14="http://schemas.microsoft.com/office/powerpoint/2010/main" val="1562835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198038B3-6A4D-4932-8FDC-9FB8A06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BB34A3-DA8E-456C-85EB-9F1D0F2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13 · QUANTIFIED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3C3CC-8F93-4529-B82E-423A1C1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Recorded M1 scope calculation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FF75FCE-5AE1-4BB8-A90C-5CE751D9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FBF6BBE-65E6-457A-B6A9-2067CA0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212AC3-81B6-48F2-8544-B742ED8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C0E1C-7473-4ECF-9573-2C0D786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Completion points = met + 0.5 × partial + 0 × unmet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3FA77-C7F4-4403-A241-386A30DC916D}"/>
              </a:ext>
            </a:extLst>
          </p:cNvPr>
          <p:cNvGraphicFramePr/>
          <p:nvPr/>
        </p:nvGraphicFramePr>
        <p:xfrm>
          <a:off xmlns:a="http://schemas.openxmlformats.org/drawingml/2006/main" x="781050" y="234315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00250"/>
                <a:gridCol w="25717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Not met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650" b="1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16 / 20 = 80%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E7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E8F86-EFBB-4E78-BC78-89DD8CB3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Recorded denominator: 20 M1 requirement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B3330-5477-43E7-93D6-3CB3F0C6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2900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This is the worksheet’s requirement-row summary. Compound acceptance conditions remain detailed in the RTM.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7B0B7-E848-4FF4-AD4C-99A1369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The 80% score does not change the unmet Must Have status.</a:t>
            </a:r>
          </a:p>
        </p:txBody>
      </p:sp>
    </p:spTree>
    <p:extLst>
      <p:ext uri="{BB962C8B-B14F-4D97-AF65-F5344CB8AC3E}">
        <p14:creationId xmlns:p14="http://schemas.microsoft.com/office/powerpoint/2010/main" val="335144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">
            <a:extLst xmlns:a="http://schemas.openxmlformats.org/drawingml/2006/main">
              <a:ext uri="{FF2B5EF4-FFF2-40B4-BE49-F238E27FC236}">
                <a16:creationId xmlns:a16="http://schemas.microsoft.com/office/drawing/2014/main" id="{859221B9-646B-4BCC-949D-A76CBE9D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6C25F8-506D-43F2-BD8F-77A6AE1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SCOPE OUTCOME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AA6FC5-950C-4C94-BFBF-DD455EC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Final acceptance status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3053A9-870F-4908-9E57-C3C8C9E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0C34EE8-3DC3-4083-A75F-4BE85FEA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65C044-11BE-4C7B-A2C4-F63255A4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A989702-453A-4956-9D33-ADCFBBA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524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8" name="row-copy-1">
            <a:extLst xmlns:a="http://schemas.openxmlformats.org/drawingml/2006/main">
              <a:ext uri="{FF2B5EF4-FFF2-40B4-BE49-F238E27FC236}">
                <a16:creationId xmlns:a16="http://schemas.microsoft.com/office/drawing/2014/main" id="{96FFA17D-07C4-4FCF-8A6E-D16D6BC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62150"/>
            <a:ext cx="7762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NFR-01 usability study: not met. NFR-02 role and ownership checks: met.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35A1B348-5357-475B-8C2F-8ED0E19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ECA00D3-EF27-41C2-8BAA-EE13D33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524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751E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73028E77-538F-4973-8141-C518FDC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67050"/>
            <a:ext cx="7762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NFR-03 reliability: partial. NFR-04 availability: not met. NFR-05 and NFR-06: partial.</a:t>
            </a:r>
          </a:p>
        </p:txBody>
      </p:sp>
      <p:sp>
        <p:nvSpPr>
          <p:cNvPr id="12" name="row-rule-2">
            <a:extLst xmlns:a="http://schemas.openxmlformats.org/drawingml/2006/main">
              <a:ext uri="{FF2B5EF4-FFF2-40B4-BE49-F238E27FC236}">
                <a16:creationId xmlns:a16="http://schemas.microsoft.com/office/drawing/2014/main" id="{7604393D-4378-45C9-8DD5-110C48A0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A7EA74B-15B6-4EB3-A870-157A7870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524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751E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4" name="row-copy-3">
            <a:extLst xmlns:a="http://schemas.openxmlformats.org/drawingml/2006/main">
              <a:ext uri="{FF2B5EF4-FFF2-40B4-BE49-F238E27FC236}">
                <a16:creationId xmlns:a16="http://schemas.microsoft.com/office/drawing/2014/main" id="{488D615B-302C-455C-9E76-72309FD9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71950"/>
            <a:ext cx="7762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NFR-07 capacity scenario: partial, based on smaller local smoke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4188B-3F95-40C0-AECA-1C63F785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NFR-01 study was deferred while the team prioritised the load-reliability issue; time ran out before M4 closure.</a:t>
            </a:r>
          </a:p>
        </p:txBody>
      </p:sp>
    </p:spTree>
    <p:extLst>
      <p:ext uri="{BB962C8B-B14F-4D97-AF65-F5344CB8AC3E}">
        <p14:creationId xmlns:p14="http://schemas.microsoft.com/office/powerpoint/2010/main" val="1470311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AA6AC4AF-7BB6-4FA4-B371-1A7EF99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111E306-D022-4036-AF6E-D9EF7F80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M3 TO CLOSURE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CA368-EFAD-4C7D-92B2-0C0134F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M3 integration and closure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AF3AA5-A754-4923-885B-E7DE6DC2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0C3DEB-FD8C-4B16-8DCE-F1F0D66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8CE0FE-5A9E-4F73-8C8B-7E25EB7F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23A3D034-04AE-4A1B-AEE1-6980774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52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Integrated product</a:t>
            </a:r>
          </a:p>
        </p:txBody>
      </p:sp>
      <p:sp>
        <p:nvSpPr>
          <p:cNvPr id="8" name="row-copy-1">
            <a:extLst xmlns:a="http://schemas.openxmlformats.org/drawingml/2006/main">
              <a:ext uri="{FF2B5EF4-FFF2-40B4-BE49-F238E27FC236}">
                <a16:creationId xmlns:a16="http://schemas.microsoft.com/office/drawing/2014/main" id="{D2F87D8D-FD57-4809-AFE4-BDC58BE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7640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Citizen, staff and management workflows in one local web application.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23AC7179-B7C2-4B1F-838D-3C6459FE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2">
            <a:extLst xmlns:a="http://schemas.openxmlformats.org/drawingml/2006/main">
              <a:ext uri="{FF2B5EF4-FFF2-40B4-BE49-F238E27FC236}">
                <a16:creationId xmlns:a16="http://schemas.microsoft.com/office/drawing/2014/main" id="{F78F3F90-994A-4A2F-BC5A-41788D08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52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Regression evidence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E27BE911-600A-4356-9977-8B2C1A2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5270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37 tests passed, 0 failed and 0 errors in the recorded local run.</a:t>
            </a:r>
          </a:p>
        </p:txBody>
      </p:sp>
      <p:sp>
        <p:nvSpPr>
          <p:cNvPr id="12" name="row-rule-2">
            <a:extLst xmlns:a="http://schemas.openxmlformats.org/drawingml/2006/main">
              <a:ext uri="{FF2B5EF4-FFF2-40B4-BE49-F238E27FC236}">
                <a16:creationId xmlns:a16="http://schemas.microsoft.com/office/drawing/2014/main" id="{44F1F919-8251-479A-8B27-36AD7E8A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4B0E353-45C9-4217-88A2-92715E9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52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CI evidence</a:t>
            </a:r>
          </a:p>
        </p:txBody>
      </p:sp>
      <p:sp>
        <p:nvSpPr>
          <p:cNvPr id="14" name="row-copy-3">
            <a:extLst xmlns:a="http://schemas.openxmlformats.org/drawingml/2006/main">
              <a:ext uri="{FF2B5EF4-FFF2-40B4-BE49-F238E27FC236}">
                <a16:creationId xmlns:a16="http://schemas.microsoft.com/office/drawing/2014/main" id="{E2C00ACE-D0C6-41B3-8AA5-297A34D3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2900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Configured GitHub Actions workflow passed on its recorded application baseline.</a:t>
            </a:r>
          </a:p>
        </p:txBody>
      </p:sp>
      <p:sp>
        <p:nvSpPr>
          <p:cNvPr id="15" name="row-rule-3">
            <a:extLst xmlns:a="http://schemas.openxmlformats.org/drawingml/2006/main">
              <a:ext uri="{FF2B5EF4-FFF2-40B4-BE49-F238E27FC236}">
                <a16:creationId xmlns:a16="http://schemas.microsoft.com/office/drawing/2014/main" id="{521F4984-512B-4D30-8A67-1A0769B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abel-4">
            <a:extLst xmlns:a="http://schemas.openxmlformats.org/drawingml/2006/main">
              <a:ext uri="{FF2B5EF4-FFF2-40B4-BE49-F238E27FC236}">
                <a16:creationId xmlns:a16="http://schemas.microsoft.com/office/drawing/2014/main" id="{0601D599-388E-4591-945F-39C81F8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52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M4 website checks</a:t>
            </a:r>
          </a:p>
        </p:txBody>
      </p:sp>
      <p:sp>
        <p:nvSpPr>
          <p:cNvPr id="17" name="row-copy-4">
            <a:extLst xmlns:a="http://schemas.openxmlformats.org/drawingml/2006/main">
              <a:ext uri="{FF2B5EF4-FFF2-40B4-BE49-F238E27FC236}">
                <a16:creationId xmlns:a16="http://schemas.microsoft.com/office/drawing/2014/main" id="{A96B84EF-781D-4AB6-AB71-9E1C0A67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0530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9 of 9 functional checks passed. Load reliability is assessed separately.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FC6C6-F399-40C3-9F8C-EF27960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3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M3 closure: DEF-001 corrected in PED v3.0. DEF-002/003 remain within their original artifact boundaries. DEF-004 remains the M4 production blocker.</a:t>
            </a:r>
          </a:p>
        </p:txBody>
      </p:sp>
    </p:spTree>
    <p:extLst>
      <p:ext uri="{BB962C8B-B14F-4D97-AF65-F5344CB8AC3E}">
        <p14:creationId xmlns:p14="http://schemas.microsoft.com/office/powerpoint/2010/main" val="1669573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DCA57C2B-BBE9-4CD5-A935-2ABFC8A6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D96BBA0-12CC-4A3E-8AC9-F7A8D63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FINAL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75D088-9457-4F2A-A2B2-72DAABB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Integrated website load result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85B35D-38FB-4995-92A5-298030B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79FC75B-5DFF-4593-9D1D-85BB582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8B4DDB-5396-440D-B9B1-0CBB2CB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91258-18AE-4D8F-BE2B-81ACD72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43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50 authenticated users  |  10,000 synthetic requests  |  6,000 measured over 10 minutes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6FE8C-C7FD-4579-BF2E-B73A3158329F}"/>
              </a:ext>
            </a:extLst>
          </p:cNvPr>
          <p:cNvGraphicFramePr/>
          <p:nvPr/>
        </p:nvGraphicFramePr>
        <p:xfrm>
          <a:off xmlns:a="http://schemas.openxmlformats.org/drawingml/2006/main" x="781050" y="2362200"/>
          <a:ext xmlns:a="http://schemas.openxmlformats.org/drawingml/2006/main" cx="104394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238500"/>
                <a:gridCol w="3962400"/>
              </a:tblGrid>
              <a:tr h="679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Acceptance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T w="9525">
                      <a:solidFill>
                        <a:srgbClr val="C7D2D9"/>
                      </a:solidFill>
                      <a:prstDash val="solid"/>
                    </a:lnT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12304A"/>
                    </a:solidFill>
                  </a:tcPr>
                </a:tc>
              </a:tr>
              <a:tr h="679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95th-percentile latency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1,051.639 ms  PASS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At or below 3,000 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Failed requests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2D9"/>
                      </a:solidFill>
                      <a:prstDash val="solid"/>
                    </a:lnL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B33A3A"/>
                          </a:solidFill>
                          <a:latin typeface="Arial"/>
                          <a:ea typeface="Arial"/>
                          <a:cs typeface="Arial"/>
                        </a:rPr>
                        <a:t>647 / 6,000  FAIL (10.78333%)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0">
                          <a:solidFill>
                            <a:srgbClr val="1D2D3B"/>
                          </a:solidFill>
                          <a:latin typeface="Arial"/>
                          <a:ea typeface="Arial"/>
                          <a:cs typeface="Arial"/>
                        </a:rPr>
                        <a:t>Below 1%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2D9"/>
                      </a:solidFill>
                      <a:prstDash val="solid"/>
                    </a:lnR>
                    <a:lnB w="9525">
                      <a:solidFill>
                        <a:srgbClr val="C7D2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35552-8201-4D48-BC5A-12B3C13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Connection resets occurred during synchronized bursts. The pending-connection queue explanation is unconfirmed.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6C6B-2E5D-431B-8064-0C3B669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One Windows host  ·  Loopback HTTP  ·  Single-process local WSGI server</a:t>
            </a:r>
          </a:p>
        </p:txBody>
      </p:sp>
    </p:spTree>
    <p:extLst>
      <p:ext uri="{BB962C8B-B14F-4D97-AF65-F5344CB8AC3E}">
        <p14:creationId xmlns:p14="http://schemas.microsoft.com/office/powerpoint/2010/main" val="189989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E00D6B4E-5ACB-4507-B4D6-8C0683A6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73C423A-DF24-4D47-86B1-EBA4A883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13 · DEPLOYMENT AND GO-LIVE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1280C9-09B7-44AD-B702-D71D526F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Final deployment decision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6BE4AD-E572-421D-BD2E-CBD9F6A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276B2F1-145D-48F4-9D5D-104E9D00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91BD58-5949-482E-AB2F-BB08104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lease-decision">
            <a:extLst xmlns:a="http://schemas.openxmlformats.org/drawingml/2006/main">
              <a:ext uri="{FF2B5EF4-FFF2-40B4-BE49-F238E27FC236}">
                <a16:creationId xmlns:a16="http://schemas.microsoft.com/office/drawing/2014/main" id="{8D7BC89D-B1B4-4223-A241-CDCB46D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NO-GO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ECDCA-DB80-4623-B8F2-FAA50D5F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Production release</a:t>
            </a:r>
          </a:p>
        </p:txBody>
      </p:sp>
      <p:sp>
        <p:nvSpPr>
          <p:cNvPr id="9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EADD9A92-2F50-4A32-BC86-884F28CE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38325"/>
            <a:ext cx="381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1">
            <a:extLst xmlns:a="http://schemas.openxmlformats.org/drawingml/2006/main">
              <a:ext uri="{FF2B5EF4-FFF2-40B4-BE49-F238E27FC236}">
                <a16:creationId xmlns:a16="http://schemas.microsoft.com/office/drawing/2014/main" id="{001BD432-CB21-45B8-9B76-F8C2748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71675"/>
            <a:ext cx="140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1" name="row-copy-1">
            <a:extLst xmlns:a="http://schemas.openxmlformats.org/drawingml/2006/main">
              <a:ext uri="{FF2B5EF4-FFF2-40B4-BE49-F238E27FC236}">
                <a16:creationId xmlns:a16="http://schemas.microsoft.com/office/drawing/2014/main" id="{4B653375-1EAB-4824-8BD8-44E9955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71675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NFR-03 request failures exceeded the limit.</a:t>
            </a:r>
          </a:p>
        </p:txBody>
      </p:sp>
      <p:sp>
        <p:nvSpPr>
          <p:cNvPr id="12" name="row-rule-1">
            <a:extLst xmlns:a="http://schemas.openxmlformats.org/drawingml/2006/main">
              <a:ext uri="{FF2B5EF4-FFF2-40B4-BE49-F238E27FC236}">
                <a16:creationId xmlns:a16="http://schemas.microsoft.com/office/drawing/2014/main" id="{F1204D43-D7DA-4645-8EAD-D77E266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2">
            <a:extLst xmlns:a="http://schemas.openxmlformats.org/drawingml/2006/main">
              <a:ext uri="{FF2B5EF4-FFF2-40B4-BE49-F238E27FC236}">
                <a16:creationId xmlns:a16="http://schemas.microsoft.com/office/drawing/2014/main" id="{C04C6084-9BB3-41AD-A59A-496BE0F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140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875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751E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4" name="row-copy-2">
            <a:extLst xmlns:a="http://schemas.openxmlformats.org/drawingml/2006/main">
              <a:ext uri="{FF2B5EF4-FFF2-40B4-BE49-F238E27FC236}">
                <a16:creationId xmlns:a16="http://schemas.microsoft.com/office/drawing/2014/main" id="{F514DF40-64B3-4D9A-AB73-6923D47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NFR-04 has no 20-weekday probe evidence.</a:t>
            </a:r>
          </a:p>
        </p:txBody>
      </p:sp>
      <p:sp>
        <p:nvSpPr>
          <p:cNvPr id="15" name="row-rule-2">
            <a:extLst xmlns:a="http://schemas.openxmlformats.org/drawingml/2006/main">
              <a:ext uri="{FF2B5EF4-FFF2-40B4-BE49-F238E27FC236}">
                <a16:creationId xmlns:a16="http://schemas.microsoft.com/office/drawing/2014/main" id="{A53FC89D-D3F2-4164-ADCF-4F355409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abel-3">
            <a:extLst xmlns:a="http://schemas.openxmlformats.org/drawingml/2006/main">
              <a:ext uri="{FF2B5EF4-FFF2-40B4-BE49-F238E27FC236}">
                <a16:creationId xmlns:a16="http://schemas.microsoft.com/office/drawing/2014/main" id="{742A6773-EDCD-4028-A9F1-ABFBB900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140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Usability</a:t>
            </a:r>
          </a:p>
        </p:txBody>
      </p:sp>
      <p:sp>
        <p:nvSpPr>
          <p:cNvPr id="17" name="row-copy-3">
            <a:extLst xmlns:a="http://schemas.openxmlformats.org/drawingml/2006/main">
              <a:ext uri="{FF2B5EF4-FFF2-40B4-BE49-F238E27FC236}">
                <a16:creationId xmlns:a16="http://schemas.microsoft.com/office/drawing/2014/main" id="{5F62A302-C47C-4816-BD2B-962DB29D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05275"/>
            <a:ext cx="3486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NFR-01 remains an unmet Must Have.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6B0C3-C992-438F-8B8B-32543D86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43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Local academic demonstration may proceed with synthetic data and disclosed results.</a:t>
            </a:r>
          </a:p>
        </p:txBody>
      </p:sp>
    </p:spTree>
    <p:extLst>
      <p:ext uri="{BB962C8B-B14F-4D97-AF65-F5344CB8AC3E}">
        <p14:creationId xmlns:p14="http://schemas.microsoft.com/office/powerpoint/2010/main" val="1172861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ule">
            <a:extLst xmlns:a="http://schemas.openxmlformats.org/drawingml/2006/main">
              <a:ext uri="{FF2B5EF4-FFF2-40B4-BE49-F238E27FC236}">
                <a16:creationId xmlns:a16="http://schemas.microsoft.com/office/drawing/2014/main" id="{0B8E38D7-C988-425B-8914-A793538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C65DA14-3F75-44EB-A47D-3D2A9DAD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12 · FINAL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465F2C-F93B-4DDD-AEF8-AA68FCDC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Final evidence and artifact closure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DFDA90-2C6A-4FA5-A8A2-C8A0F26F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D57B27-4023-49CB-A812-CFC09B7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F140FF-825C-4313-B50C-AAC8C35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7CC4E94-181B-4D1C-AA5B-67EAEC6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33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Requirements</a:t>
            </a:r>
          </a:p>
        </p:txBody>
      </p:sp>
      <p:sp>
        <p:nvSpPr>
          <p:cNvPr id="8" name="row-copy-1">
            <a:extLst xmlns:a="http://schemas.openxmlformats.org/drawingml/2006/main">
              <a:ext uri="{FF2B5EF4-FFF2-40B4-BE49-F238E27FC236}">
                <a16:creationId xmlns:a16="http://schemas.microsoft.com/office/drawing/2014/main" id="{B59EE662-7C1E-4BA0-9DC6-83FBFD60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57350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Final RTM links M1 commitments to final status and evidence.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7CB0EEF1-56F4-463A-A4FA-FADDD9B6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2">
            <a:extLst xmlns:a="http://schemas.openxmlformats.org/drawingml/2006/main">
              <a:ext uri="{FF2B5EF4-FFF2-40B4-BE49-F238E27FC236}">
                <a16:creationId xmlns:a16="http://schemas.microsoft.com/office/drawing/2014/main" id="{8EF6CA95-D946-44D9-A442-3873DE2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33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C9E2B4D6-EB10-40A3-B2D7-E8B501A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86025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Scope worksheet records 16 of 20 requirement rows, or 80%.</a:t>
            </a:r>
          </a:p>
        </p:txBody>
      </p:sp>
      <p:sp>
        <p:nvSpPr>
          <p:cNvPr id="12" name="row-rule-2">
            <a:extLst xmlns:a="http://schemas.openxmlformats.org/drawingml/2006/main">
              <a:ext uri="{FF2B5EF4-FFF2-40B4-BE49-F238E27FC236}">
                <a16:creationId xmlns:a16="http://schemas.microsoft.com/office/drawing/2014/main" id="{AD33126B-048C-48AE-B159-3D974C2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3">
            <a:extLst xmlns:a="http://schemas.openxmlformats.org/drawingml/2006/main">
              <a:ext uri="{FF2B5EF4-FFF2-40B4-BE49-F238E27FC236}">
                <a16:creationId xmlns:a16="http://schemas.microsoft.com/office/drawing/2014/main" id="{59AA90EE-7557-4C73-8894-04B453E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33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4" name="row-copy-3">
            <a:extLst xmlns:a="http://schemas.openxmlformats.org/drawingml/2006/main">
              <a:ext uri="{FF2B5EF4-FFF2-40B4-BE49-F238E27FC236}">
                <a16:creationId xmlns:a16="http://schemas.microsoft.com/office/drawing/2014/main" id="{474FE1E5-AD88-4A3D-9ED3-FA5E315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14700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PED v4, release decision, CI, test, website, risk, defect and debt records.</a:t>
            </a:r>
          </a:p>
        </p:txBody>
      </p:sp>
      <p:sp>
        <p:nvSpPr>
          <p:cNvPr id="15" name="row-rule-3">
            <a:extLst xmlns:a="http://schemas.openxmlformats.org/drawingml/2006/main">
              <a:ext uri="{FF2B5EF4-FFF2-40B4-BE49-F238E27FC236}">
                <a16:creationId xmlns:a16="http://schemas.microsoft.com/office/drawing/2014/main" id="{1BB40F4F-8388-4358-9B26-2BAF59C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abel-4">
            <a:extLst xmlns:a="http://schemas.openxmlformats.org/drawingml/2006/main">
              <a:ext uri="{FF2B5EF4-FFF2-40B4-BE49-F238E27FC236}">
                <a16:creationId xmlns:a16="http://schemas.microsoft.com/office/drawing/2014/main" id="{489021BF-E532-4EC3-A882-C7BFA80A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33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AI use</a:t>
            </a:r>
          </a:p>
        </p:txBody>
      </p:sp>
      <p:sp>
        <p:nvSpPr>
          <p:cNvPr id="17" name="row-copy-4">
            <a:extLst xmlns:a="http://schemas.openxmlformats.org/drawingml/2006/main">
              <a:ext uri="{FF2B5EF4-FFF2-40B4-BE49-F238E27FC236}">
                <a16:creationId xmlns:a16="http://schemas.microsoft.com/office/drawing/2014/main" id="{B201BF93-ABB1-4581-861A-22D697B6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43375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One uniform AI register records assisted activities and team verification.</a:t>
            </a:r>
          </a:p>
        </p:txBody>
      </p:sp>
      <p:sp>
        <p:nvSpPr>
          <p:cNvPr id="18" name="row-rule-4">
            <a:extLst xmlns:a="http://schemas.openxmlformats.org/drawingml/2006/main">
              <a:ext uri="{FF2B5EF4-FFF2-40B4-BE49-F238E27FC236}">
                <a16:creationId xmlns:a16="http://schemas.microsoft.com/office/drawing/2014/main" id="{BD0D47F2-488A-4561-AF92-2C0C54CE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w-label-5">
            <a:extLst xmlns:a="http://schemas.openxmlformats.org/drawingml/2006/main">
              <a:ext uri="{FF2B5EF4-FFF2-40B4-BE49-F238E27FC236}">
                <a16:creationId xmlns:a16="http://schemas.microsoft.com/office/drawing/2014/main" id="{49B5FD84-C2F1-49D3-9BBF-23E062C5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233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" name="row-copy-5">
            <a:extLst xmlns:a="http://schemas.openxmlformats.org/drawingml/2006/main">
              <a:ext uri="{FF2B5EF4-FFF2-40B4-BE49-F238E27FC236}">
                <a16:creationId xmlns:a16="http://schemas.microsoft.com/office/drawing/2014/main" id="{9402187A-1888-4652-AADE-9A4574CB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72050"/>
            <a:ext cx="7953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The team completed its collective final review and checked the final artifacts.</a:t>
            </a:r>
          </a:p>
        </p:txBody>
      </p:sp>
    </p:spTree>
    <p:extLst>
      <p:ext uri="{BB962C8B-B14F-4D97-AF65-F5344CB8AC3E}">
        <p14:creationId xmlns:p14="http://schemas.microsoft.com/office/powerpoint/2010/main" val="1923617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1C8DC39B-3F4C-4A7F-A24F-67DF41E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7C79E9D-2E6B-44E6-8515-5CA52BB4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SECTION 13 · DECISION QUALITY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5FBF6-D566-45AC-A508-AFC769F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Engineering decisions and consequences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EF786E2-DFF5-4811-9687-81E1B110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D9DB5DE-8190-422F-A231-C6353B8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CivicConnect  |  SEN381 final project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2BC31D-F253-4B01-A763-0ACEB832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6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546FBB1-BAC2-403C-9D41-BAEA1344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2333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Local operation</a:t>
            </a:r>
          </a:p>
        </p:txBody>
      </p:sp>
      <p:sp>
        <p:nvSpPr>
          <p:cNvPr id="8" name="row-copy-1">
            <a:extLst xmlns:a="http://schemas.openxmlformats.org/drawingml/2006/main">
              <a:ext uri="{FF2B5EF4-FFF2-40B4-BE49-F238E27FC236}">
                <a16:creationId xmlns:a16="http://schemas.microsoft.com/office/drawing/2014/main" id="{C146FEEE-E78E-4B94-BB79-CE03C66A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85925"/>
            <a:ext cx="795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Own local server and synthetic data supported the academic demonstration. Hosting and platform cost: $0.</a:t>
            </a:r>
          </a:p>
        </p:txBody>
      </p:sp>
      <p:sp>
        <p:nvSpPr>
          <p:cNvPr id="9" name="row-rule-1">
            <a:extLst xmlns:a="http://schemas.openxmlformats.org/drawingml/2006/main">
              <a:ext uri="{FF2B5EF4-FFF2-40B4-BE49-F238E27FC236}">
                <a16:creationId xmlns:a16="http://schemas.microsoft.com/office/drawing/2014/main" id="{5E944BBA-06B7-44BA-9F92-BA213C26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w-label-2">
            <a:extLst xmlns:a="http://schemas.openxmlformats.org/drawingml/2006/main">
              <a:ext uri="{FF2B5EF4-FFF2-40B4-BE49-F238E27FC236}">
                <a16:creationId xmlns:a16="http://schemas.microsoft.com/office/drawing/2014/main" id="{0184E757-95C5-4D98-B993-DD0044E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2333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73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734D"/>
                </a:solidFill>
                <a:latin typeface="Arial"/>
                <a:ea typeface="Arial"/>
                <a:cs typeface="Arial"/>
              </a:rPr>
              <a:t>Delivery control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0CF5EBBC-488F-4A94-94C9-C64D81B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81275"/>
            <a:ext cx="795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All project deadlines were met. The team completed the final collective review.</a:t>
            </a:r>
          </a:p>
        </p:txBody>
      </p:sp>
      <p:sp>
        <p:nvSpPr>
          <p:cNvPr id="12" name="row-rule-2">
            <a:extLst xmlns:a="http://schemas.openxmlformats.org/drawingml/2006/main">
              <a:ext uri="{FF2B5EF4-FFF2-40B4-BE49-F238E27FC236}">
                <a16:creationId xmlns:a16="http://schemas.microsoft.com/office/drawing/2014/main" id="{1FB98814-9FC0-4810-92D2-EC8CD0BC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w-label-3">
            <a:extLst xmlns:a="http://schemas.openxmlformats.org/drawingml/2006/main">
              <a:ext uri="{FF2B5EF4-FFF2-40B4-BE49-F238E27FC236}">
                <a16:creationId xmlns:a16="http://schemas.microsoft.com/office/drawing/2014/main" id="{6EF62FC0-31D6-4B0E-91BF-082C66A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333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Reliability decision</a:t>
            </a:r>
          </a:p>
        </p:txBody>
      </p:sp>
      <p:sp>
        <p:nvSpPr>
          <p:cNvPr id="14" name="row-copy-3">
            <a:extLst xmlns:a="http://schemas.openxmlformats.org/drawingml/2006/main">
              <a:ext uri="{FF2B5EF4-FFF2-40B4-BE49-F238E27FC236}">
                <a16:creationId xmlns:a16="http://schemas.microsoft.com/office/drawing/2014/main" id="{F6ABF0BA-5819-4B4C-95CA-E66AF513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76625"/>
            <a:ext cx="795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The local architecture exposed a failure-rate limit under synchronized load; cause remains unconfirmed.</a:t>
            </a:r>
          </a:p>
        </p:txBody>
      </p:sp>
      <p:sp>
        <p:nvSpPr>
          <p:cNvPr id="15" name="row-rule-3">
            <a:extLst xmlns:a="http://schemas.openxmlformats.org/drawingml/2006/main">
              <a:ext uri="{FF2B5EF4-FFF2-40B4-BE49-F238E27FC236}">
                <a16:creationId xmlns:a16="http://schemas.microsoft.com/office/drawing/2014/main" id="{BCBC2C40-26D2-4E0A-BBE2-81527B0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abel-4">
            <a:extLst xmlns:a="http://schemas.openxmlformats.org/drawingml/2006/main">
              <a:ext uri="{FF2B5EF4-FFF2-40B4-BE49-F238E27FC236}">
                <a16:creationId xmlns:a16="http://schemas.microsoft.com/office/drawing/2014/main" id="{7CF8B4C0-CC40-495D-90BA-1744DFFE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2333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AI accountability</a:t>
            </a:r>
          </a:p>
        </p:txBody>
      </p:sp>
      <p:sp>
        <p:nvSpPr>
          <p:cNvPr id="17" name="row-copy-4">
            <a:extLst xmlns:a="http://schemas.openxmlformats.org/drawingml/2006/main">
              <a:ext uri="{FF2B5EF4-FFF2-40B4-BE49-F238E27FC236}">
                <a16:creationId xmlns:a16="http://schemas.microsoft.com/office/drawing/2014/main" id="{81313CDC-8805-44E3-8DEF-1E3895C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71975"/>
            <a:ext cx="795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D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D3B"/>
                </a:solidFill>
                <a:latin typeface="Arial"/>
                <a:ea typeface="Arial"/>
                <a:cs typeface="Arial"/>
              </a:rPr>
              <a:t>The team checked and verified each recorded AI-assisted activity and owns the submitted decisions.</a:t>
            </a:r>
          </a:p>
        </p:txBody>
      </p:sp>
    </p:spTree>
    <p:extLst>
      <p:ext uri="{BB962C8B-B14F-4D97-AF65-F5344CB8AC3E}">
        <p14:creationId xmlns:p14="http://schemas.microsoft.com/office/powerpoint/2010/main" val="1062097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83858085-A308-440B-86DA-EE862E2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6675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1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E1B46-0B13-40E1-BC55-66AFD29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D2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D2D0"/>
                </a:solidFill>
                <a:latin typeface="Arial"/>
                <a:ea typeface="Arial"/>
                <a:cs typeface="Arial"/>
              </a:rPr>
              <a:t>PROJECT CONCLUSION</a:t>
            </a:r>
          </a:p>
        </p:txBody>
      </p:sp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83DCA72-7AA2-4BF1-B625-CF1E8010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9239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CivicConnect is complete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within the submitted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scope.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4E2BB976-DAF8-42F6-8519-42279E1F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1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1015B-CDDF-48A0-9684-D75909C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DCE6E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6EC"/>
                </a:solidFill>
                <a:latin typeface="Arial"/>
                <a:ea typeface="Arial"/>
                <a:cs typeface="Arial"/>
              </a:rPr>
              <a:t>80% requirement-row completion  |  All deadlines met  |  $0 local hosting/platform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FFEEA-C1FA-4B39-AC37-ED24641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0BD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BD58"/>
                </a:solidFill>
                <a:latin typeface="Arial"/>
                <a:ea typeface="Arial"/>
                <a:cs typeface="Arial"/>
              </a:rPr>
              <a:t>Final production decision: NO-GO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73769-4170-4A07-AF4C-2D52E7A9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team completed collective review and verified the final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763F6-BE5D-4906-A494-7DADD225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05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1"/>
                </a:solidFill>
                <a:latin typeface="Arial"/>
                <a:ea typeface="Arial"/>
                <a:cs typeface="Arial"/>
              </a:rPr>
              <a:t>CivicConnect final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0D32C-8B69-4A90-A9C0-FA597C87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B7C7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7046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2026-10-18T18:56:04.6810000Z</dcterms:created>
  <dcterms:modified xsi:type="dcterms:W3CDTF">2026-10-18T18:56:04.6810000Z</dcterms:modified>
</coreProperties>
</file>